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C2D4"/>
    <a:srgbClr val="CE5E8D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23D0E7-CEE5-4078-8D3E-F812806B28FD}" v="4" dt="2026-09-30T14:58:34.8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vi Sudhakar" userId="58b46c8991df4f1c" providerId="LiveId" clId="{B01ECACF-F19F-4CDA-BC3F-E0D5C7E15958}"/>
    <pc:docChg chg="modSld">
      <pc:chgData name="Survi Sudhakar" userId="58b46c8991df4f1c" providerId="LiveId" clId="{B01ECACF-F19F-4CDA-BC3F-E0D5C7E15958}" dt="2026-09-30T14:58:44.929" v="11" actId="1076"/>
      <pc:docMkLst>
        <pc:docMk/>
      </pc:docMkLst>
      <pc:sldChg chg="addSp modSp mod">
        <pc:chgData name="Survi Sudhakar" userId="58b46c8991df4f1c" providerId="LiveId" clId="{B01ECACF-F19F-4CDA-BC3F-E0D5C7E15958}" dt="2026-09-30T14:58:04.200" v="6" actId="255"/>
        <pc:sldMkLst>
          <pc:docMk/>
          <pc:sldMk cId="0" sldId="261"/>
        </pc:sldMkLst>
        <pc:spChg chg="add mod">
          <ac:chgData name="Survi Sudhakar" userId="58b46c8991df4f1c" providerId="LiveId" clId="{B01ECACF-F19F-4CDA-BC3F-E0D5C7E15958}" dt="2026-09-30T14:58:04.200" v="6" actId="255"/>
          <ac:spMkLst>
            <pc:docMk/>
            <pc:sldMk cId="0" sldId="261"/>
            <ac:spMk id="23" creationId="{8843C72A-B387-945E-14C4-0EB22EDDDD95}"/>
          </ac:spMkLst>
        </pc:spChg>
      </pc:sldChg>
      <pc:sldChg chg="addSp modSp mod">
        <pc:chgData name="Survi Sudhakar" userId="58b46c8991df4f1c" providerId="LiveId" clId="{B01ECACF-F19F-4CDA-BC3F-E0D5C7E15958}" dt="2026-09-30T14:58:44.929" v="11" actId="1076"/>
        <pc:sldMkLst>
          <pc:docMk/>
          <pc:sldMk cId="0" sldId="262"/>
        </pc:sldMkLst>
        <pc:spChg chg="add mod">
          <ac:chgData name="Survi Sudhakar" userId="58b46c8991df4f1c" providerId="LiveId" clId="{B01ECACF-F19F-4CDA-BC3F-E0D5C7E15958}" dt="2026-09-30T14:58:44.929" v="11" actId="1076"/>
          <ac:spMkLst>
            <pc:docMk/>
            <pc:sldMk cId="0" sldId="262"/>
            <ac:spMk id="24" creationId="{6928D552-F8A9-225C-7290-510072AFF8F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AA52EF-17FC-4523-A19D-09DE0F13ED3F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C2629D-DF43-457C-8C3B-EAFD97A36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744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81360" y="-320040"/>
            <a:ext cx="1554480" cy="1554480"/>
          </a:xfrm>
          <a:prstGeom prst="ellipse">
            <a:avLst/>
          </a:prstGeom>
          <a:solidFill>
            <a:srgbClr val="744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75720" y="411480"/>
            <a:ext cx="594360" cy="594360"/>
          </a:xfrm>
          <a:prstGeom prst="ellipse">
            <a:avLst/>
          </a:prstGeom>
          <a:solidFill>
            <a:srgbClr val="36C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320040" y="6126480"/>
            <a:ext cx="914400" cy="914400"/>
          </a:xfrm>
          <a:prstGeom prst="ellipse">
            <a:avLst/>
          </a:prstGeom>
          <a:solidFill>
            <a:srgbClr val="E8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61120" y="1828800"/>
            <a:ext cx="1554480" cy="1828800"/>
          </a:xfrm>
          <a:prstGeom prst="roundRect">
            <a:avLst/>
          </a:prstGeom>
          <a:solidFill>
            <a:srgbClr val="236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rc 5"/>
          <p:cNvSpPr/>
          <p:nvPr/>
        </p:nvSpPr>
        <p:spPr>
          <a:xfrm>
            <a:off x="9253728" y="1143000"/>
            <a:ext cx="960120" cy="1143000"/>
          </a:xfrm>
          <a:prstGeom prst="arc">
            <a:avLst/>
          </a:prstGeom>
          <a:noFill/>
          <a:ln w="114300">
            <a:solidFill>
              <a:srgbClr val="36C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582912" y="2359152"/>
            <a:ext cx="292608" cy="292608"/>
          </a:xfrm>
          <a:prstGeom prst="ellipse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6C4CD"/>
                </a:solidFill>
                <a:latin typeface="Aptos Display"/>
              </a:defRPr>
            </a:pPr>
            <a:r>
              <a:t>DESIGN AND SIMULATION OF A</a:t>
            </a:r>
          </a:p>
          <a:p>
            <a:pPr>
              <a:defRPr sz="3900" b="1">
                <a:solidFill>
                  <a:srgbClr val="F8FAFD"/>
                </a:solidFill>
                <a:latin typeface="Aptos Display"/>
              </a:defRPr>
            </a:pPr>
            <a:r>
              <a:t>DIGITAL DOOR ACCESS</a:t>
            </a:r>
          </a:p>
          <a:p>
            <a:pPr>
              <a:defRPr sz="3900" b="1">
                <a:solidFill>
                  <a:srgbClr val="F8FAFD"/>
                </a:solidFill>
                <a:latin typeface="Aptos Display"/>
              </a:defRPr>
            </a:pPr>
            <a:r>
              <a:t>CONTROL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3640227" cy="17543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E1F0"/>
                </a:solidFill>
              </a:defRPr>
            </a:pPr>
            <a:r>
              <a:rPr dirty="0"/>
              <a:t>DDCA •</a:t>
            </a:r>
            <a:endParaRPr lang="en-US" dirty="0"/>
          </a:p>
          <a:p>
            <a:pPr>
              <a:defRPr sz="1800" b="1">
                <a:solidFill>
                  <a:srgbClr val="DCE1F0"/>
                </a:solidFill>
              </a:defRPr>
            </a:pPr>
            <a:r>
              <a:rPr lang="en-IN"/>
              <a:t>Sphoorthi-2620030567</a:t>
            </a:r>
            <a:r>
              <a:rPr dirty="0"/>
              <a:t> </a:t>
            </a:r>
            <a:endParaRPr lang="en-US" dirty="0"/>
          </a:p>
          <a:p>
            <a:pPr>
              <a:defRPr sz="1800" b="1">
                <a:solidFill>
                  <a:srgbClr val="DCE1F0"/>
                </a:solidFill>
              </a:defRPr>
            </a:pPr>
            <a:r>
              <a:rPr lang="en-US" dirty="0"/>
              <a:t>Nishita-2620030581</a:t>
            </a:r>
          </a:p>
          <a:p>
            <a:pPr>
              <a:defRPr sz="1800" b="1">
                <a:solidFill>
                  <a:srgbClr val="DCE1F0"/>
                </a:solidFill>
              </a:defRPr>
            </a:pPr>
            <a:r>
              <a:rPr lang="en-US" dirty="0"/>
              <a:t>Nisha Majumdar-2620030589</a:t>
            </a:r>
          </a:p>
          <a:p>
            <a:pPr>
              <a:defRPr sz="1800" b="1">
                <a:solidFill>
                  <a:srgbClr val="DCE1F0"/>
                </a:solidFill>
              </a:defRPr>
            </a:pPr>
            <a:r>
              <a:rPr lang="en-IN" dirty="0"/>
              <a:t>G. V. Vikranth Reddy  –  2620030584</a:t>
            </a:r>
          </a:p>
          <a:p>
            <a:pPr>
              <a:defRPr sz="1800" b="1">
                <a:solidFill>
                  <a:srgbClr val="DCE1F0"/>
                </a:solidFill>
              </a:defRPr>
            </a:pP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0881360" y="640080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AB4C8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81360" y="-320040"/>
            <a:ext cx="1554480" cy="1554480"/>
          </a:xfrm>
          <a:prstGeom prst="ellipse">
            <a:avLst/>
          </a:prstGeom>
          <a:solidFill>
            <a:srgbClr val="36C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75720" y="411480"/>
            <a:ext cx="594360" cy="594360"/>
          </a:xfrm>
          <a:prstGeom prst="ellipse">
            <a:avLst/>
          </a:prstGeom>
          <a:solidFill>
            <a:srgbClr val="744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320040" y="6126480"/>
            <a:ext cx="914400" cy="914400"/>
          </a:xfrm>
          <a:prstGeom prst="ellipse">
            <a:avLst/>
          </a:prstGeom>
          <a:solidFill>
            <a:srgbClr val="E8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F"/>
                </a:solidFill>
                <a:latin typeface="Aptos Display"/>
              </a:defRPr>
            </a:pPr>
            <a:r>
              <a:t>1.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9728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2"/>
                </a:solidFill>
                <a:latin typeface="Aptos"/>
              </a:defRPr>
            </a:pPr>
            <a:r>
              <a:t>A simple digital system that controls who can enter.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1828800"/>
          </a:xfrm>
          <a:prstGeom prst="roundRect">
            <a:avLst/>
          </a:prstGeom>
          <a:solidFill>
            <a:srgbClr val="F7F9FD"/>
          </a:solidFill>
          <a:ln w="19050">
            <a:solidFill>
              <a:srgbClr val="236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2688" y="1847088"/>
            <a:ext cx="530352" cy="530352"/>
          </a:xfrm>
          <a:prstGeom prst="ellipse">
            <a:avLst/>
          </a:prstGeom>
          <a:solidFill>
            <a:srgbClr val="236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883664"/>
            <a:ext cx="5303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8FAFD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828800"/>
            <a:ext cx="23134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367CF"/>
                </a:solidFill>
                <a:latin typeface="Aptos Display"/>
              </a:defRPr>
            </a:pPr>
            <a:r>
              <a:t>What is it?</a:t>
            </a:r>
          </a:p>
          <a:p>
            <a:pPr>
              <a:spcBef>
                <a:spcPts val="700"/>
              </a:spcBef>
              <a:defRPr sz="1300">
                <a:solidFill>
                  <a:srgbClr val="232A37"/>
                </a:solidFill>
                <a:latin typeface="Aptos"/>
              </a:defRPr>
            </a:pPr>
            <a:r>
              <a:t>A door access system checks an input such as a password before opening the door.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383280" cy="1828800"/>
          </a:xfrm>
          <a:prstGeom prst="roundRect">
            <a:avLst/>
          </a:prstGeom>
          <a:solidFill>
            <a:srgbClr val="F7F9FD"/>
          </a:solidFill>
          <a:ln w="19050">
            <a:solidFill>
              <a:srgbClr val="744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90288" y="1847088"/>
            <a:ext cx="530352" cy="530352"/>
          </a:xfrm>
          <a:prstGeom prst="ellipse">
            <a:avLst/>
          </a:prstGeom>
          <a:solidFill>
            <a:srgbClr val="744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883664"/>
            <a:ext cx="5303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8FAFD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1828800"/>
            <a:ext cx="23134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744CC2"/>
                </a:solidFill>
                <a:latin typeface="Aptos Display"/>
              </a:defRPr>
            </a:pPr>
            <a:r>
              <a:t>Why use it?</a:t>
            </a:r>
          </a:p>
          <a:p>
            <a:pPr>
              <a:spcBef>
                <a:spcPts val="700"/>
              </a:spcBef>
              <a:defRPr sz="1300">
                <a:solidFill>
                  <a:srgbClr val="232A37"/>
                </a:solidFill>
                <a:latin typeface="Aptos"/>
              </a:defRPr>
            </a:pPr>
            <a:r>
              <a:t>It improves security and reduces the need for physical keys.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383280" cy="1828800"/>
          </a:xfrm>
          <a:prstGeom prst="roundRect">
            <a:avLst/>
          </a:prstGeom>
          <a:solidFill>
            <a:srgbClr val="F7F9FD"/>
          </a:solidFill>
          <a:ln w="19050">
            <a:solidFill>
              <a:srgbClr val="2F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47888" y="1847088"/>
            <a:ext cx="530352" cy="530352"/>
          </a:xfrm>
          <a:prstGeom prst="ellipse">
            <a:avLst/>
          </a:prstGeom>
          <a:solidFill>
            <a:srgbClr val="2FA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883664"/>
            <a:ext cx="5303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8FAFD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8" y="1828800"/>
            <a:ext cx="23134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FAA70"/>
                </a:solidFill>
                <a:latin typeface="Aptos Display"/>
              </a:defRPr>
            </a:pPr>
            <a:r>
              <a:t>Main idea</a:t>
            </a:r>
          </a:p>
          <a:p>
            <a:pPr>
              <a:spcBef>
                <a:spcPts val="700"/>
              </a:spcBef>
              <a:defRPr sz="1300">
                <a:solidFill>
                  <a:srgbClr val="232A37"/>
                </a:solidFill>
                <a:latin typeface="Aptos"/>
              </a:defRPr>
            </a:pPr>
            <a:r>
              <a:t>Correct input → access allowed. Wrong input → door stays locked.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977639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232A37"/>
                </a:solidFill>
                <a:latin typeface="Aptos"/>
              </a:defRPr>
            </a:pPr>
            <a:r>
              <a:t>• The system can be designed using digital logic.</a:t>
            </a:r>
          </a:p>
          <a:p>
            <a:pPr>
              <a:spcAft>
                <a:spcPts val="1600"/>
              </a:spcAft>
              <a:defRPr sz="1700">
                <a:solidFill>
                  <a:srgbClr val="232A37"/>
                </a:solidFill>
                <a:latin typeface="Aptos"/>
              </a:defRPr>
            </a:pPr>
            <a:r>
              <a:t>• It can be tested using simulation before building the real circuit.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0080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67082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81360" y="-320040"/>
            <a:ext cx="1554480" cy="1554480"/>
          </a:xfrm>
          <a:prstGeom prst="ellipse">
            <a:avLst/>
          </a:prstGeom>
          <a:solidFill>
            <a:srgbClr val="E8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75720" y="411480"/>
            <a:ext cx="594360" cy="594360"/>
          </a:xfrm>
          <a:prstGeom prst="ellipse">
            <a:avLst/>
          </a:prstGeom>
          <a:solidFill>
            <a:srgbClr val="36C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320040" y="6126480"/>
            <a:ext cx="914400" cy="914400"/>
          </a:xfrm>
          <a:prstGeom prst="ellipse">
            <a:avLst/>
          </a:prstGeom>
          <a:solidFill>
            <a:srgbClr val="E8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F"/>
                </a:solidFill>
                <a:latin typeface="Aptos Display"/>
              </a:defRPr>
            </a:pPr>
            <a:r>
              <a:t>2.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9728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2"/>
                </a:solidFill>
                <a:latin typeface="Aptos"/>
              </a:defRPr>
            </a:pPr>
            <a:r>
              <a:t>The system must decide whether a person is allowed to enter.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5212080" cy="1325880"/>
          </a:xfrm>
          <a:prstGeom prst="roundRect">
            <a:avLst/>
          </a:prstGeom>
          <a:solidFill>
            <a:srgbClr val="F7F9FD"/>
          </a:solidFill>
          <a:ln w="19050">
            <a:solidFill>
              <a:srgbClr val="E8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78408" y="1801368"/>
            <a:ext cx="530352" cy="530352"/>
          </a:xfrm>
          <a:prstGeom prst="ellipse">
            <a:avLst/>
          </a:prstGeom>
          <a:solidFill>
            <a:srgbClr val="E8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837943"/>
            <a:ext cx="5303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8FAFD"/>
                </a:solidFill>
              </a:defRPr>
            </a:pPr>
            <a: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8488" y="1783080"/>
            <a:ext cx="41422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85B96"/>
                </a:solidFill>
                <a:latin typeface="Aptos Display"/>
              </a:defRPr>
            </a:pPr>
            <a:r>
              <a:t>Problem</a:t>
            </a:r>
          </a:p>
          <a:p>
            <a:pPr>
              <a:spcBef>
                <a:spcPts val="700"/>
              </a:spcBef>
              <a:defRPr sz="1300">
                <a:solidFill>
                  <a:srgbClr val="232A37"/>
                </a:solidFill>
                <a:latin typeface="Aptos"/>
              </a:defRPr>
            </a:pPr>
            <a:r>
              <a:t>Traditional keys may be lost, copied, or forgotten.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212080" cy="1325880"/>
          </a:xfrm>
          <a:prstGeom prst="roundRect">
            <a:avLst/>
          </a:prstGeom>
          <a:solidFill>
            <a:srgbClr val="F7F9FD"/>
          </a:solidFill>
          <a:ln w="19050">
            <a:solidFill>
              <a:srgbClr val="236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19088" y="1801368"/>
            <a:ext cx="530352" cy="530352"/>
          </a:xfrm>
          <a:prstGeom prst="ellipse">
            <a:avLst/>
          </a:prstGeom>
          <a:solidFill>
            <a:srgbClr val="236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837943"/>
            <a:ext cx="5303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8FAFD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9168" y="1783080"/>
            <a:ext cx="41422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367CF"/>
                </a:solidFill>
                <a:latin typeface="Aptos Display"/>
              </a:defRPr>
            </a:pPr>
            <a:r>
              <a:t>Need</a:t>
            </a:r>
          </a:p>
          <a:p>
            <a:pPr>
              <a:spcBef>
                <a:spcPts val="700"/>
              </a:spcBef>
              <a:defRPr sz="1300">
                <a:solidFill>
                  <a:srgbClr val="232A37"/>
                </a:solidFill>
                <a:latin typeface="Aptos"/>
              </a:defRPr>
            </a:pPr>
            <a:r>
              <a:t>A simple electronic method is needed to check access.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246120"/>
            <a:ext cx="5212080" cy="1325880"/>
          </a:xfrm>
          <a:prstGeom prst="roundRect">
            <a:avLst/>
          </a:prstGeom>
          <a:solidFill>
            <a:srgbClr val="F7F9FD"/>
          </a:solidFill>
          <a:ln w="19050">
            <a:solidFill>
              <a:srgbClr val="F19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78408" y="3447288"/>
            <a:ext cx="530352" cy="530352"/>
          </a:xfrm>
          <a:prstGeom prst="ellipse">
            <a:avLst/>
          </a:prstGeom>
          <a:solidFill>
            <a:srgbClr val="F19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8408" y="3483863"/>
            <a:ext cx="5303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8FAFD"/>
                </a:solidFill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8488" y="3429000"/>
            <a:ext cx="41422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19736"/>
                </a:solidFill>
                <a:latin typeface="Aptos Display"/>
              </a:defRPr>
            </a:pPr>
            <a:r>
              <a:t>Challenge</a:t>
            </a:r>
          </a:p>
          <a:p>
            <a:pPr>
              <a:spcBef>
                <a:spcPts val="700"/>
              </a:spcBef>
              <a:defRPr sz="1300">
                <a:solidFill>
                  <a:srgbClr val="232A37"/>
                </a:solidFill>
                <a:latin typeface="Aptos"/>
              </a:defRPr>
            </a:pPr>
            <a:r>
              <a:t>The circuit must give a clear OPEN or LOCKED output.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246120"/>
            <a:ext cx="5212080" cy="1325880"/>
          </a:xfrm>
          <a:prstGeom prst="roundRect">
            <a:avLst/>
          </a:prstGeom>
          <a:solidFill>
            <a:srgbClr val="F7F9FD"/>
          </a:solidFill>
          <a:ln w="19050">
            <a:solidFill>
              <a:srgbClr val="2F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19088" y="3447288"/>
            <a:ext cx="530352" cy="530352"/>
          </a:xfrm>
          <a:prstGeom prst="ellipse">
            <a:avLst/>
          </a:prstGeom>
          <a:solidFill>
            <a:srgbClr val="2FA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9088" y="3483863"/>
            <a:ext cx="5303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8FAFD"/>
                </a:solidFill>
              </a:defRPr>
            </a:pPr>
            <a:r>
              <a:t>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3429000"/>
            <a:ext cx="41422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FAA70"/>
                </a:solidFill>
                <a:latin typeface="Aptos Display"/>
              </a:defRPr>
            </a:pPr>
            <a:r>
              <a:t>Solution idea</a:t>
            </a:r>
          </a:p>
          <a:p>
            <a:pPr>
              <a:spcBef>
                <a:spcPts val="700"/>
              </a:spcBef>
              <a:defRPr sz="1300">
                <a:solidFill>
                  <a:srgbClr val="232A37"/>
                </a:solidFill>
                <a:latin typeface="Aptos"/>
              </a:defRPr>
            </a:pPr>
            <a:r>
              <a:t>Use inputs, logic gates, and an output device to control the door.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0080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67082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81360" y="-320040"/>
            <a:ext cx="1554480" cy="1554480"/>
          </a:xfrm>
          <a:prstGeom prst="ellipse">
            <a:avLst/>
          </a:prstGeom>
          <a:solidFill>
            <a:srgbClr val="236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75720" y="411480"/>
            <a:ext cx="594360" cy="594360"/>
          </a:xfrm>
          <a:prstGeom prst="ellipse">
            <a:avLst/>
          </a:prstGeom>
          <a:solidFill>
            <a:srgbClr val="36C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320040" y="6126480"/>
            <a:ext cx="914400" cy="914400"/>
          </a:xfrm>
          <a:prstGeom prst="ellipse">
            <a:avLst/>
          </a:prstGeom>
          <a:solidFill>
            <a:srgbClr val="E8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F"/>
                </a:solidFill>
                <a:latin typeface="Aptos Display"/>
              </a:defRPr>
            </a:pPr>
            <a:r>
              <a:t>3.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9728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2"/>
                </a:solidFill>
                <a:latin typeface="Aptos"/>
              </a:defRPr>
            </a:pPr>
            <a:r>
              <a:t>What our digital door system should achieve.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5074920" cy="1600200"/>
          </a:xfrm>
          <a:prstGeom prst="roundRect">
            <a:avLst/>
          </a:prstGeom>
          <a:solidFill>
            <a:srgbClr val="F7F9FD"/>
          </a:solidFill>
          <a:ln w="19050">
            <a:solidFill>
              <a:srgbClr val="236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78408" y="1801368"/>
            <a:ext cx="530352" cy="530352"/>
          </a:xfrm>
          <a:prstGeom prst="ellipse">
            <a:avLst/>
          </a:prstGeom>
          <a:solidFill>
            <a:srgbClr val="236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837943"/>
            <a:ext cx="5303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8FAFD"/>
                </a:solidFill>
              </a:defRPr>
            </a:pPr>
            <a:r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8488" y="1783080"/>
            <a:ext cx="40050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367CF"/>
                </a:solidFill>
                <a:latin typeface="Aptos Display"/>
              </a:defRPr>
            </a:pPr>
            <a:r>
              <a:t>Secure access</a:t>
            </a:r>
          </a:p>
          <a:p>
            <a:pPr>
              <a:spcBef>
                <a:spcPts val="700"/>
              </a:spcBef>
              <a:defRPr sz="1300">
                <a:solidFill>
                  <a:srgbClr val="232A37"/>
                </a:solidFill>
                <a:latin typeface="Aptos"/>
              </a:defRPr>
            </a:pPr>
            <a:r>
              <a:t>Allow only the correct input.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600200"/>
            <a:ext cx="5074920" cy="1600200"/>
          </a:xfrm>
          <a:prstGeom prst="roundRect">
            <a:avLst/>
          </a:prstGeom>
          <a:solidFill>
            <a:srgbClr val="F7F9FD"/>
          </a:solidFill>
          <a:ln w="19050">
            <a:solidFill>
              <a:srgbClr val="744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10527" y="1801368"/>
            <a:ext cx="530352" cy="530352"/>
          </a:xfrm>
          <a:prstGeom prst="ellipse">
            <a:avLst/>
          </a:prstGeom>
          <a:solidFill>
            <a:srgbClr val="744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7" y="1837943"/>
            <a:ext cx="5303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8FAFD"/>
                </a:solidFill>
              </a:defRPr>
            </a:pPr>
            <a: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7" y="1783080"/>
            <a:ext cx="40050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744CC2"/>
                </a:solidFill>
                <a:latin typeface="Aptos Display"/>
              </a:defRPr>
            </a:pPr>
            <a:r>
              <a:t>Fast checking</a:t>
            </a:r>
          </a:p>
          <a:p>
            <a:pPr>
              <a:spcBef>
                <a:spcPts val="700"/>
              </a:spcBef>
              <a:defRPr sz="1300">
                <a:solidFill>
                  <a:srgbClr val="232A37"/>
                </a:solidFill>
                <a:latin typeface="Aptos"/>
              </a:defRPr>
            </a:pPr>
            <a:r>
              <a:t>Check the input quickly.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611880"/>
            <a:ext cx="5074920" cy="1600200"/>
          </a:xfrm>
          <a:prstGeom prst="roundRect">
            <a:avLst/>
          </a:prstGeom>
          <a:solidFill>
            <a:srgbClr val="F7F9FD"/>
          </a:solidFill>
          <a:ln w="19050">
            <a:solidFill>
              <a:srgbClr val="36C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78408" y="3813048"/>
            <a:ext cx="530352" cy="530352"/>
          </a:xfrm>
          <a:prstGeom prst="ellipse">
            <a:avLst/>
          </a:prstGeom>
          <a:solidFill>
            <a:srgbClr val="36C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8408" y="3849624"/>
            <a:ext cx="5303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8FAFD"/>
                </a:solidFill>
              </a:defRPr>
            </a:pPr>
            <a:r>
              <a:t>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8488" y="3794760"/>
            <a:ext cx="40050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6C4CD"/>
                </a:solidFill>
                <a:latin typeface="Aptos Display"/>
              </a:defRPr>
            </a:pPr>
            <a:r>
              <a:t>Simple design</a:t>
            </a:r>
          </a:p>
          <a:p>
            <a:pPr>
              <a:spcBef>
                <a:spcPts val="700"/>
              </a:spcBef>
              <a:defRPr sz="1300">
                <a:solidFill>
                  <a:srgbClr val="232A37"/>
                </a:solidFill>
                <a:latin typeface="Aptos"/>
              </a:defRPr>
            </a:pPr>
            <a:r>
              <a:t>Use basic digital logic.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3611880"/>
            <a:ext cx="5074920" cy="1600200"/>
          </a:xfrm>
          <a:prstGeom prst="roundRect">
            <a:avLst/>
          </a:prstGeom>
          <a:solidFill>
            <a:srgbClr val="F7F9FD"/>
          </a:solidFill>
          <a:ln w="19050">
            <a:solidFill>
              <a:srgbClr val="2F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510527" y="3813048"/>
            <a:ext cx="530352" cy="530352"/>
          </a:xfrm>
          <a:prstGeom prst="ellipse">
            <a:avLst/>
          </a:prstGeom>
          <a:solidFill>
            <a:srgbClr val="2FA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0527" y="3849624"/>
            <a:ext cx="5303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8FAFD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7" y="3794760"/>
            <a:ext cx="40050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FAA70"/>
                </a:solidFill>
                <a:latin typeface="Aptos Display"/>
              </a:defRPr>
            </a:pPr>
            <a:r>
              <a:t>Easy simulation</a:t>
            </a:r>
          </a:p>
          <a:p>
            <a:pPr>
              <a:spcBef>
                <a:spcPts val="700"/>
              </a:spcBef>
              <a:defRPr sz="1300">
                <a:solidFill>
                  <a:srgbClr val="232A37"/>
                </a:solidFill>
                <a:latin typeface="Aptos"/>
              </a:defRPr>
            </a:pPr>
            <a:r>
              <a:t>Test the circuit before implementation.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0080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6708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529098-4C21-F5DC-3C3C-450D2A1DBCC8}"/>
              </a:ext>
            </a:extLst>
          </p:cNvPr>
          <p:cNvSpPr txBox="1"/>
          <p:nvPr/>
        </p:nvSpPr>
        <p:spPr>
          <a:xfrm>
            <a:off x="746269" y="5021416"/>
            <a:ext cx="109123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br>
              <a:rPr lang="en-IN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IN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the password is correct, the door opens. </a:t>
            </a:r>
          </a:p>
          <a:p>
            <a:r>
              <a:rPr lang="en-IN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it is wrong, the door stays locked.</a:t>
            </a:r>
            <a:br>
              <a:rPr lang="en-IN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IN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561E3F-01B2-A221-5931-B40146D60B30}"/>
              </a:ext>
            </a:extLst>
          </p:cNvPr>
          <p:cNvSpPr txBox="1"/>
          <p:nvPr/>
        </p:nvSpPr>
        <p:spPr>
          <a:xfrm>
            <a:off x="978408" y="2540020"/>
            <a:ext cx="48737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The main objective of our project is to make the door access system SECURE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5E9A12-531F-E96D-11CA-39861FC2A8E7}"/>
              </a:ext>
            </a:extLst>
          </p:cNvPr>
          <p:cNvSpPr txBox="1"/>
          <p:nvPr/>
        </p:nvSpPr>
        <p:spPr>
          <a:xfrm>
            <a:off x="6572618" y="2640937"/>
            <a:ext cx="45484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It allows only authorized users to enter.</a:t>
            </a:r>
            <a:br>
              <a:rPr lang="en-IN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</a:br>
            <a:endParaRPr lang="en-IN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1281CD-E08F-3C98-3E5B-188F930830FC}"/>
              </a:ext>
            </a:extLst>
          </p:cNvPr>
          <p:cNvSpPr txBox="1"/>
          <p:nvPr/>
        </p:nvSpPr>
        <p:spPr>
          <a:xfrm>
            <a:off x="777240" y="4682169"/>
            <a:ext cx="44146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5">
                    <a:lumMod val="75000"/>
                  </a:schemeClr>
                </a:solidFill>
              </a:rPr>
              <a:t>The system checks the password given by the user.</a:t>
            </a:r>
            <a:br>
              <a:rPr lang="en-IN" sz="1600" dirty="0"/>
            </a:br>
            <a:endParaRPr lang="en-IN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31FBBE-CA59-0838-0BA7-D4E4A8D5B7FF}"/>
              </a:ext>
            </a:extLst>
          </p:cNvPr>
          <p:cNvSpPr txBox="1"/>
          <p:nvPr/>
        </p:nvSpPr>
        <p:spPr>
          <a:xfrm>
            <a:off x="6464808" y="4553333"/>
            <a:ext cx="4345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We also use simulation to check whether our system works correctly.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81360" y="-320040"/>
            <a:ext cx="1554480" cy="1554480"/>
          </a:xfrm>
          <a:prstGeom prst="ellipse">
            <a:avLst/>
          </a:prstGeom>
          <a:solidFill>
            <a:srgbClr val="744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75720" y="411480"/>
            <a:ext cx="594360" cy="594360"/>
          </a:xfrm>
          <a:prstGeom prst="ellipse">
            <a:avLst/>
          </a:prstGeom>
          <a:solidFill>
            <a:srgbClr val="36C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320040" y="6126480"/>
            <a:ext cx="914400" cy="914400"/>
          </a:xfrm>
          <a:prstGeom prst="ellipse">
            <a:avLst/>
          </a:prstGeom>
          <a:solidFill>
            <a:srgbClr val="E8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F"/>
                </a:solidFill>
                <a:latin typeface="Aptos Display"/>
              </a:defRPr>
            </a:pPr>
            <a:r>
              <a:t>4. Main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9728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2"/>
                </a:solidFill>
                <a:latin typeface="Aptos"/>
              </a:defRPr>
            </a:pPr>
            <a:r>
              <a:t>The important parts of the digital access 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3246120" cy="1554480"/>
          </a:xfrm>
          <a:prstGeom prst="roundRect">
            <a:avLst/>
          </a:prstGeom>
          <a:solidFill>
            <a:srgbClr val="F7F9FD"/>
          </a:solidFill>
          <a:ln w="19050">
            <a:solidFill>
              <a:srgbClr val="236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6968" y="1755648"/>
            <a:ext cx="530352" cy="530352"/>
          </a:xfrm>
          <a:prstGeom prst="ellipse">
            <a:avLst/>
          </a:prstGeom>
          <a:solidFill>
            <a:srgbClr val="236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792224"/>
            <a:ext cx="5303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8FAFD"/>
                </a:solidFill>
              </a:defRPr>
            </a:pPr>
            <a:r>
              <a:t>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1737360"/>
            <a:ext cx="21762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367CF"/>
                </a:solidFill>
                <a:latin typeface="Aptos Display"/>
              </a:defRPr>
            </a:pPr>
            <a:r>
              <a:t>Input</a:t>
            </a:r>
          </a:p>
          <a:p>
            <a:pPr>
              <a:spcBef>
                <a:spcPts val="700"/>
              </a:spcBef>
              <a:defRPr sz="1300">
                <a:solidFill>
                  <a:srgbClr val="232A37"/>
                </a:solidFill>
                <a:latin typeface="Aptos"/>
              </a:defRPr>
            </a:pPr>
            <a:r>
              <a:t>Password / keypad 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554480"/>
            <a:ext cx="3246120" cy="1554480"/>
          </a:xfrm>
          <a:prstGeom prst="roundRect">
            <a:avLst/>
          </a:prstGeom>
          <a:solidFill>
            <a:srgbClr val="F7F9FD"/>
          </a:solidFill>
          <a:ln w="19050">
            <a:solidFill>
              <a:srgbClr val="744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361688" y="1755648"/>
            <a:ext cx="530352" cy="530352"/>
          </a:xfrm>
          <a:prstGeom prst="ellipse">
            <a:avLst/>
          </a:prstGeom>
          <a:solidFill>
            <a:srgbClr val="744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61688" y="1792224"/>
            <a:ext cx="5303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8FAFD"/>
                </a:solidFill>
              </a:defRPr>
            </a:pPr>
            <a:r>
              <a:t>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68" y="1737360"/>
            <a:ext cx="21762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744CC2"/>
                </a:solidFill>
                <a:latin typeface="Aptos Display"/>
              </a:defRPr>
            </a:pPr>
            <a:r>
              <a:t>Logic Unit</a:t>
            </a:r>
          </a:p>
          <a:p>
            <a:pPr>
              <a:spcBef>
                <a:spcPts val="700"/>
              </a:spcBef>
              <a:defRPr sz="1300">
                <a:solidFill>
                  <a:srgbClr val="232A37"/>
                </a:solidFill>
                <a:latin typeface="Aptos"/>
              </a:defRPr>
            </a:pPr>
            <a:r>
              <a:t>Compares the input with the correct condition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554480"/>
            <a:ext cx="3246120" cy="1554480"/>
          </a:xfrm>
          <a:prstGeom prst="roundRect">
            <a:avLst/>
          </a:prstGeom>
          <a:solidFill>
            <a:srgbClr val="F7F9FD"/>
          </a:solidFill>
          <a:ln w="19050">
            <a:solidFill>
              <a:srgbClr val="F19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836408" y="1755648"/>
            <a:ext cx="530352" cy="530352"/>
          </a:xfrm>
          <a:prstGeom prst="ellipse">
            <a:avLst/>
          </a:prstGeom>
          <a:solidFill>
            <a:srgbClr val="F19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36408" y="1792224"/>
            <a:ext cx="5303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8FAFD"/>
                </a:solidFill>
              </a:defRPr>
            </a:pPr>
            <a: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1737360"/>
            <a:ext cx="21762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19736"/>
                </a:solidFill>
                <a:latin typeface="Aptos Display"/>
              </a:defRPr>
            </a:pPr>
            <a:r>
              <a:t>Controller</a:t>
            </a:r>
          </a:p>
          <a:p>
            <a:pPr>
              <a:spcBef>
                <a:spcPts val="700"/>
              </a:spcBef>
              <a:defRPr sz="1300">
                <a:solidFill>
                  <a:srgbClr val="232A37"/>
                </a:solidFill>
                <a:latin typeface="Aptos"/>
              </a:defRPr>
            </a:pPr>
            <a:r>
              <a:t>Decides OPEN or LOCKED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23160" y="3703320"/>
            <a:ext cx="3246120" cy="1554480"/>
          </a:xfrm>
          <a:prstGeom prst="roundRect">
            <a:avLst/>
          </a:prstGeom>
          <a:solidFill>
            <a:srgbClr val="F7F9FD"/>
          </a:solidFill>
          <a:ln w="19050">
            <a:solidFill>
              <a:srgbClr val="2F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624328" y="3904487"/>
            <a:ext cx="530352" cy="530352"/>
          </a:xfrm>
          <a:prstGeom prst="ellipse">
            <a:avLst/>
          </a:prstGeom>
          <a:solidFill>
            <a:srgbClr val="2FA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24328" y="3941063"/>
            <a:ext cx="5303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8FAFD"/>
                </a:solidFill>
              </a:defRPr>
            </a:pPr>
            <a: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64408" y="3886200"/>
            <a:ext cx="21762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FAA70"/>
                </a:solidFill>
                <a:latin typeface="Aptos Display"/>
              </a:defRPr>
            </a:pPr>
            <a:r>
              <a:t>Door Lock</a:t>
            </a:r>
          </a:p>
          <a:p>
            <a:pPr>
              <a:spcBef>
                <a:spcPts val="700"/>
              </a:spcBef>
              <a:defRPr sz="1300">
                <a:solidFill>
                  <a:srgbClr val="232A37"/>
                </a:solidFill>
                <a:latin typeface="Aptos"/>
              </a:defRPr>
            </a:pPr>
            <a:r>
              <a:t>Electronic output that changes the door state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97880" y="3703320"/>
            <a:ext cx="3246120" cy="1554480"/>
          </a:xfrm>
          <a:prstGeom prst="roundRect">
            <a:avLst/>
          </a:prstGeom>
          <a:solidFill>
            <a:srgbClr val="F7F9FD"/>
          </a:solidFill>
          <a:ln w="19050">
            <a:solidFill>
              <a:srgbClr val="E8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099048" y="3904487"/>
            <a:ext cx="530352" cy="530352"/>
          </a:xfrm>
          <a:prstGeom prst="ellipse">
            <a:avLst/>
          </a:prstGeom>
          <a:solidFill>
            <a:srgbClr val="E8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99048" y="3941063"/>
            <a:ext cx="5303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8FAFD"/>
                </a:solidFill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39128" y="3886200"/>
            <a:ext cx="21762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85B96"/>
                </a:solidFill>
                <a:latin typeface="Aptos Display"/>
              </a:defRPr>
            </a:pPr>
            <a:r>
              <a:t>Indicator</a:t>
            </a:r>
          </a:p>
          <a:p>
            <a:pPr>
              <a:spcBef>
                <a:spcPts val="700"/>
              </a:spcBef>
              <a:defRPr sz="1300">
                <a:solidFill>
                  <a:srgbClr val="232A37"/>
                </a:solidFill>
                <a:latin typeface="Aptos"/>
              </a:defRPr>
            </a:pPr>
            <a:r>
              <a:t>LED or buzzer shows the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0080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6708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630DE0-2250-0035-C7A0-81195AC52303}"/>
              </a:ext>
            </a:extLst>
          </p:cNvPr>
          <p:cNvSpPr txBox="1"/>
          <p:nvPr/>
        </p:nvSpPr>
        <p:spPr>
          <a:xfrm>
            <a:off x="747448" y="2344418"/>
            <a:ext cx="30381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First, the user gives an input using a password or keypad.</a:t>
            </a:r>
            <a:br>
              <a:rPr lang="en-IN" sz="1400" dirty="0"/>
            </a:br>
            <a:r>
              <a:rPr lang="en-IN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User enters the password.</a:t>
            </a:r>
          </a:p>
          <a:p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FA71CF-EEF9-DEBF-6992-2176F8676DCF}"/>
              </a:ext>
            </a:extLst>
          </p:cNvPr>
          <p:cNvSpPr txBox="1"/>
          <p:nvPr/>
        </p:nvSpPr>
        <p:spPr>
          <a:xfrm>
            <a:off x="4176449" y="2535119"/>
            <a:ext cx="30381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Then, the logic gates checks if  input is right or wrong</a:t>
            </a:r>
          </a:p>
          <a:p>
            <a:endParaRPr lang="en-IN" sz="1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CDD4E8-33A9-283B-B765-0D79D0314830}"/>
              </a:ext>
            </a:extLst>
          </p:cNvPr>
          <p:cNvSpPr txBox="1"/>
          <p:nvPr/>
        </p:nvSpPr>
        <p:spPr>
          <a:xfrm>
            <a:off x="7635240" y="2500313"/>
            <a:ext cx="32461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whether access should be given or not according to previous steps.</a:t>
            </a:r>
          </a:p>
          <a:p>
            <a:endParaRPr lang="en-IN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FA9658-E6CB-B575-83EF-1562E28A6E1E}"/>
              </a:ext>
            </a:extLst>
          </p:cNvPr>
          <p:cNvSpPr txBox="1"/>
          <p:nvPr/>
        </p:nvSpPr>
        <p:spPr>
          <a:xfrm>
            <a:off x="2459736" y="4702016"/>
            <a:ext cx="32095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accent3">
                    <a:lumMod val="75000"/>
                  </a:schemeClr>
                </a:solidFill>
              </a:rPr>
              <a:t>If the input is correct, the door lock opens.</a:t>
            </a:r>
            <a:br>
              <a:rPr lang="en-IN" sz="1400" dirty="0">
                <a:solidFill>
                  <a:schemeClr val="accent3">
                    <a:lumMod val="75000"/>
                  </a:schemeClr>
                </a:solidFill>
              </a:rPr>
            </a:br>
            <a:endParaRPr lang="en-IN" sz="14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7D9947A-82AC-E859-A61C-7546F6296C27}"/>
              </a:ext>
            </a:extLst>
          </p:cNvPr>
          <p:cNvSpPr txBox="1"/>
          <p:nvPr/>
        </p:nvSpPr>
        <p:spPr>
          <a:xfrm>
            <a:off x="5897880" y="4696162"/>
            <a:ext cx="29103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ECC2D4"/>
                </a:solidFill>
              </a:rPr>
              <a:t>Show whether access is allowed or denied through light or sound.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81360" y="-320040"/>
            <a:ext cx="1554480" cy="1554480"/>
          </a:xfrm>
          <a:prstGeom prst="ellipse">
            <a:avLst/>
          </a:prstGeom>
          <a:solidFill>
            <a:srgbClr val="36C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75720" y="411480"/>
            <a:ext cx="594360" cy="594360"/>
          </a:xfrm>
          <a:prstGeom prst="ellipse">
            <a:avLst/>
          </a:prstGeom>
          <a:solidFill>
            <a:srgbClr val="744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320040" y="6126480"/>
            <a:ext cx="914400" cy="914400"/>
          </a:xfrm>
          <a:prstGeom prst="ellipse">
            <a:avLst/>
          </a:prstGeom>
          <a:solidFill>
            <a:srgbClr val="E8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F"/>
                </a:solidFill>
                <a:latin typeface="Aptos Display"/>
              </a:defRPr>
            </a:pPr>
            <a:r>
              <a:t>5.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9728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2"/>
                </a:solidFill>
                <a:latin typeface="Aptos"/>
              </a:defRPr>
            </a:pPr>
            <a:r>
              <a:t>Basic flow of the access-control 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1554480" cy="914400"/>
          </a:xfrm>
          <a:prstGeom prst="roundRect">
            <a:avLst/>
          </a:prstGeom>
          <a:solidFill>
            <a:srgbClr val="236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999232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8FAFD"/>
                </a:solidFill>
              </a:defRPr>
            </a:pPr>
            <a:r>
              <a:t>USER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743200"/>
            <a:ext cx="1554480" cy="914400"/>
          </a:xfrm>
          <a:prstGeom prst="roundRect">
            <a:avLst/>
          </a:prstGeom>
          <a:solidFill>
            <a:srgbClr val="744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0" y="2999232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8FAFD"/>
                </a:solidFill>
              </a:defRPr>
            </a:pPr>
            <a:r>
              <a:t>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2743200"/>
            <a:ext cx="1554480" cy="914400"/>
          </a:xfrm>
          <a:prstGeom prst="roundRect">
            <a:avLst/>
          </a:prstGeom>
          <a:solidFill>
            <a:srgbClr val="F19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2999232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8FAFD"/>
                </a:solidFill>
              </a:defRPr>
            </a:pPr>
            <a:r>
              <a:t>LOGIC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2743200"/>
            <a:ext cx="1737360" cy="914400"/>
          </a:xfrm>
          <a:prstGeom prst="roundRect">
            <a:avLst/>
          </a:prstGeom>
          <a:solidFill>
            <a:srgbClr val="E8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0" y="2999232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8FAFD"/>
                </a:solidFill>
              </a:defRPr>
            </a:pPr>
            <a:r>
              <a:t>DECISION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743200"/>
            <a:ext cx="1554480" cy="914400"/>
          </a:xfrm>
          <a:prstGeom prst="roundRect">
            <a:avLst/>
          </a:prstGeom>
          <a:solidFill>
            <a:srgbClr val="2FA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5440" y="2999232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8FAFD"/>
                </a:solidFill>
              </a:defRPr>
            </a:pPr>
            <a:r>
              <a:t>DOOR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40280" y="3200400"/>
            <a:ext cx="457200" cy="0"/>
          </a:xfrm>
          <a:prstGeom prst="line">
            <a:avLst/>
          </a:prstGeom>
          <a:ln w="38100">
            <a:solidFill>
              <a:srgbClr val="1220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343400" y="3200400"/>
            <a:ext cx="457200" cy="0"/>
          </a:xfrm>
          <a:prstGeom prst="line">
            <a:avLst/>
          </a:prstGeom>
          <a:ln w="38100">
            <a:solidFill>
              <a:srgbClr val="1220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46520" y="3200400"/>
            <a:ext cx="457200" cy="0"/>
          </a:xfrm>
          <a:prstGeom prst="line">
            <a:avLst/>
          </a:prstGeom>
          <a:ln w="38100">
            <a:solidFill>
              <a:srgbClr val="1220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732520" y="3200400"/>
            <a:ext cx="457200" cy="0"/>
          </a:xfrm>
          <a:prstGeom prst="line">
            <a:avLst/>
          </a:prstGeom>
          <a:ln w="38100">
            <a:solidFill>
              <a:srgbClr val="1220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011680" y="3977639"/>
            <a:ext cx="8412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32A37"/>
                </a:solidFill>
              </a:defRPr>
            </a:pPr>
            <a:r>
              <a:t>Enter input  →  Check condition  →  Make decision  →  Open / Keep locked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0080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6708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43C72A-B387-945E-14C4-0EB22EDDDD95}"/>
              </a:ext>
            </a:extLst>
          </p:cNvPr>
          <p:cNvSpPr txBox="1"/>
          <p:nvPr/>
        </p:nvSpPr>
        <p:spPr>
          <a:xfrm>
            <a:off x="640080" y="5126871"/>
            <a:ext cx="9871587" cy="1456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  <a:defRPr sz="1600">
                <a:latin typeface="Aptos"/>
              </a:defRPr>
            </a:pPr>
            <a:r>
              <a:rPr lang="en-US" dirty="0"/>
              <a:t>• The user enters the required password or input.</a:t>
            </a:r>
          </a:p>
          <a:p>
            <a:pPr>
              <a:spcAft>
                <a:spcPts val="200"/>
              </a:spcAft>
              <a:defRPr sz="1600">
                <a:latin typeface="Aptos"/>
              </a:defRPr>
            </a:pPr>
            <a:r>
              <a:rPr lang="en-US" dirty="0"/>
              <a:t>• Digital logic checks the entered input.</a:t>
            </a:r>
          </a:p>
          <a:p>
            <a:pPr>
              <a:spcAft>
                <a:spcPts val="200"/>
              </a:spcAft>
              <a:defRPr sz="1600">
                <a:latin typeface="Aptos"/>
              </a:defRPr>
            </a:pPr>
            <a:r>
              <a:rPr lang="en-US" dirty="0"/>
              <a:t>• Correct input gives OPEN; wrong input gives LOCKED.</a:t>
            </a:r>
          </a:p>
          <a:p>
            <a:pPr>
              <a:spcAft>
                <a:spcPts val="200"/>
              </a:spcAft>
              <a:defRPr sz="1600">
                <a:latin typeface="Aptos"/>
              </a:defRPr>
            </a:pPr>
            <a:r>
              <a:rPr lang="en-US" dirty="0"/>
              <a:t>• LED or buzzer indicates the access result.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81360" y="-320040"/>
            <a:ext cx="1554480" cy="1554480"/>
          </a:xfrm>
          <a:prstGeom prst="ellipse">
            <a:avLst/>
          </a:prstGeom>
          <a:solidFill>
            <a:srgbClr val="2FA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75720" y="411480"/>
            <a:ext cx="594360" cy="594360"/>
          </a:xfrm>
          <a:prstGeom prst="ellipse">
            <a:avLst/>
          </a:prstGeom>
          <a:solidFill>
            <a:srgbClr val="36C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320040" y="6126480"/>
            <a:ext cx="914400" cy="914400"/>
          </a:xfrm>
          <a:prstGeom prst="ellipse">
            <a:avLst/>
          </a:prstGeom>
          <a:solidFill>
            <a:srgbClr val="E8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F"/>
                </a:solidFill>
                <a:latin typeface="Aptos Display"/>
              </a:defRPr>
            </a:pPr>
            <a:r>
              <a:t>6. Working Principle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9728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2"/>
                </a:solidFill>
                <a:latin typeface="Aptos"/>
              </a:defRPr>
            </a:pPr>
            <a:r>
              <a:t>The system follows a simple decision process.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828800"/>
            <a:ext cx="640080" cy="640080"/>
          </a:xfrm>
          <a:prstGeom prst="ellipse">
            <a:avLst/>
          </a:prstGeom>
          <a:solidFill>
            <a:srgbClr val="236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D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743200"/>
            <a:ext cx="2331720" cy="1828800"/>
          </a:xfrm>
          <a:prstGeom prst="roundRect">
            <a:avLst/>
          </a:prstGeom>
          <a:solidFill>
            <a:srgbClr val="F7F9FD"/>
          </a:solidFill>
          <a:ln w="19050">
            <a:solidFill>
              <a:srgbClr val="236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2926080"/>
            <a:ext cx="1847087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367CF"/>
                </a:solidFill>
                <a:latin typeface="Aptos Display"/>
              </a:defRPr>
            </a:pPr>
            <a:r>
              <a:t>Enter the password</a:t>
            </a:r>
          </a:p>
          <a:p>
            <a:pPr>
              <a:spcBef>
                <a:spcPts val="700"/>
              </a:spcBef>
              <a:defRPr sz="1300">
                <a:solidFill>
                  <a:srgbClr val="232A37"/>
                </a:solidFill>
                <a:latin typeface="Aptos"/>
              </a:defRPr>
            </a:pPr>
            <a:r>
              <a:t>The user enters the required input.</a:t>
            </a:r>
          </a:p>
        </p:txBody>
      </p:sp>
      <p:sp>
        <p:nvSpPr>
          <p:cNvPr id="11" name="Oval 10"/>
          <p:cNvSpPr/>
          <p:nvPr/>
        </p:nvSpPr>
        <p:spPr>
          <a:xfrm>
            <a:off x="3520439" y="1828800"/>
            <a:ext cx="640080" cy="640080"/>
          </a:xfrm>
          <a:prstGeom prst="ellipse">
            <a:avLst/>
          </a:prstGeom>
          <a:solidFill>
            <a:srgbClr val="744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0439" y="1965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D"/>
                </a:solidFill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79" y="2743200"/>
            <a:ext cx="2331720" cy="1828800"/>
          </a:xfrm>
          <a:prstGeom prst="roundRect">
            <a:avLst/>
          </a:prstGeom>
          <a:solidFill>
            <a:srgbClr val="F7F9FD"/>
          </a:solidFill>
          <a:ln w="19050">
            <a:solidFill>
              <a:srgbClr val="744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39311" y="2926080"/>
            <a:ext cx="184708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744CC2"/>
                </a:solidFill>
                <a:latin typeface="Aptos Display"/>
              </a:defRPr>
            </a:pPr>
            <a:r>
              <a:t>Check the input</a:t>
            </a:r>
          </a:p>
          <a:p>
            <a:pPr>
              <a:spcBef>
                <a:spcPts val="700"/>
              </a:spcBef>
              <a:defRPr sz="1300">
                <a:solidFill>
                  <a:srgbClr val="232A37"/>
                </a:solidFill>
                <a:latin typeface="Aptos"/>
              </a:defRPr>
            </a:pPr>
            <a:r>
              <a:t>Digital logic checks whether it is correct.</a:t>
            </a:r>
          </a:p>
        </p:txBody>
      </p:sp>
      <p:sp>
        <p:nvSpPr>
          <p:cNvPr id="15" name="Oval 14"/>
          <p:cNvSpPr/>
          <p:nvPr/>
        </p:nvSpPr>
        <p:spPr>
          <a:xfrm>
            <a:off x="6309359" y="1828800"/>
            <a:ext cx="640080" cy="640080"/>
          </a:xfrm>
          <a:prstGeom prst="ellipse">
            <a:avLst/>
          </a:prstGeom>
          <a:solidFill>
            <a:srgbClr val="F19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59" y="1965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D"/>
                </a:solidFill>
              </a:defRPr>
            </a:pPr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199" y="2743200"/>
            <a:ext cx="2331720" cy="1828800"/>
          </a:xfrm>
          <a:prstGeom prst="roundRect">
            <a:avLst/>
          </a:prstGeom>
          <a:solidFill>
            <a:srgbClr val="F7F9FD"/>
          </a:solidFill>
          <a:ln w="19050">
            <a:solidFill>
              <a:srgbClr val="F19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8231" y="2926080"/>
            <a:ext cx="1847087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19736"/>
                </a:solidFill>
                <a:latin typeface="Aptos Display"/>
              </a:defRPr>
            </a:pPr>
            <a:r>
              <a:t>Make a decision</a:t>
            </a:r>
          </a:p>
          <a:p>
            <a:pPr>
              <a:spcBef>
                <a:spcPts val="700"/>
              </a:spcBef>
              <a:defRPr sz="1300">
                <a:solidFill>
                  <a:srgbClr val="232A37"/>
                </a:solidFill>
                <a:latin typeface="Aptos"/>
              </a:defRPr>
            </a:pPr>
            <a:r>
              <a:t>Correct → OPEN. Wrong → LOCKED.</a:t>
            </a:r>
          </a:p>
        </p:txBody>
      </p:sp>
      <p:sp>
        <p:nvSpPr>
          <p:cNvPr id="19" name="Oval 18"/>
          <p:cNvSpPr/>
          <p:nvPr/>
        </p:nvSpPr>
        <p:spPr>
          <a:xfrm>
            <a:off x="9098280" y="1828800"/>
            <a:ext cx="640080" cy="640080"/>
          </a:xfrm>
          <a:prstGeom prst="ellipse">
            <a:avLst/>
          </a:prstGeom>
          <a:solidFill>
            <a:srgbClr val="2FA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98280" y="19659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8FAFD"/>
                </a:solidFill>
              </a:defRPr>
            </a:pPr>
            <a: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19" y="2743200"/>
            <a:ext cx="2331720" cy="1828800"/>
          </a:xfrm>
          <a:prstGeom prst="roundRect">
            <a:avLst/>
          </a:prstGeom>
          <a:solidFill>
            <a:srgbClr val="F7F9FD"/>
          </a:solidFill>
          <a:ln w="19050">
            <a:solidFill>
              <a:srgbClr val="2F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17151" y="2926080"/>
            <a:ext cx="184708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FAA70"/>
                </a:solidFill>
                <a:latin typeface="Aptos Display"/>
              </a:defRPr>
            </a:pPr>
            <a:r>
              <a:t>Show the result</a:t>
            </a:r>
          </a:p>
          <a:p>
            <a:pPr>
              <a:spcBef>
                <a:spcPts val="700"/>
              </a:spcBef>
              <a:defRPr sz="1300">
                <a:solidFill>
                  <a:srgbClr val="232A37"/>
                </a:solidFill>
                <a:latin typeface="Aptos"/>
              </a:defRPr>
            </a:pPr>
            <a:r>
              <a:t>LED/buzzer can indicate the door status.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0080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6708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28D552-F8A9-225C-7290-510072AFF8F1}"/>
              </a:ext>
            </a:extLst>
          </p:cNvPr>
          <p:cNvSpPr txBox="1"/>
          <p:nvPr/>
        </p:nvSpPr>
        <p:spPr>
          <a:xfrm>
            <a:off x="640080" y="5246638"/>
            <a:ext cx="8022138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  <a:defRPr sz="1600">
                <a:latin typeface="Aptos"/>
              </a:defRPr>
            </a:pPr>
            <a:r>
              <a:rPr lang="en-US"/>
              <a:t>• Test the circuit with different input combinations.</a:t>
            </a:r>
          </a:p>
          <a:p>
            <a:pPr>
              <a:spcAft>
                <a:spcPts val="200"/>
              </a:spcAft>
              <a:defRPr sz="1600">
                <a:latin typeface="Aptos"/>
              </a:defRPr>
            </a:pPr>
            <a:r>
              <a:rPr lang="en-US"/>
              <a:t>• Correct input produces an ACCESS GRANTED output.</a:t>
            </a:r>
          </a:p>
          <a:p>
            <a:pPr>
              <a:spcAft>
                <a:spcPts val="200"/>
              </a:spcAft>
              <a:defRPr sz="1600">
                <a:latin typeface="Aptos"/>
              </a:defRPr>
            </a:pPr>
            <a:r>
              <a:rPr lang="en-US"/>
              <a:t>• Wrong input produces an ACCESS DENIED output.</a:t>
            </a:r>
          </a:p>
          <a:p>
            <a:pPr>
              <a:spcAft>
                <a:spcPts val="200"/>
              </a:spcAft>
              <a:defRPr sz="1600">
                <a:latin typeface="Aptos"/>
              </a:defRPr>
            </a:pPr>
            <a:r>
              <a:rPr lang="en-US"/>
              <a:t>• Simulation verifies the logic before practical implementation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81360" y="-320040"/>
            <a:ext cx="1554480" cy="1554480"/>
          </a:xfrm>
          <a:prstGeom prst="ellipse">
            <a:avLst/>
          </a:prstGeom>
          <a:solidFill>
            <a:srgbClr val="F19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75720" y="411480"/>
            <a:ext cx="594360" cy="594360"/>
          </a:xfrm>
          <a:prstGeom prst="ellipse">
            <a:avLst/>
          </a:prstGeom>
          <a:solidFill>
            <a:srgbClr val="36C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320040" y="6126480"/>
            <a:ext cx="914400" cy="914400"/>
          </a:xfrm>
          <a:prstGeom prst="ellipse">
            <a:avLst/>
          </a:prstGeom>
          <a:solidFill>
            <a:srgbClr val="E8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F"/>
                </a:solidFill>
                <a:latin typeface="Aptos Display"/>
              </a:defRPr>
            </a:pPr>
            <a:r>
              <a:t>7. Simulation &amp; Test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9728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2"/>
                </a:solidFill>
                <a:latin typeface="Aptos"/>
              </a:defRPr>
            </a:pPr>
            <a:r>
              <a:t>Simulation helps us check different inputs safely.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1554480"/>
          </a:xfrm>
          <a:prstGeom prst="roundRect">
            <a:avLst/>
          </a:prstGeom>
          <a:solidFill>
            <a:srgbClr val="F7F9FD"/>
          </a:solidFill>
          <a:ln w="19050">
            <a:solidFill>
              <a:srgbClr val="2F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2688" y="1755648"/>
            <a:ext cx="530352" cy="530352"/>
          </a:xfrm>
          <a:prstGeom prst="ellipse">
            <a:avLst/>
          </a:prstGeom>
          <a:solidFill>
            <a:srgbClr val="2FA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5303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8FAFD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37360"/>
            <a:ext cx="41422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FAA70"/>
                </a:solidFill>
                <a:latin typeface="Aptos Display"/>
              </a:defRPr>
            </a:pPr>
            <a:r>
              <a:t>Test Case 1 — Correct Input</a:t>
            </a:r>
          </a:p>
          <a:p>
            <a:pPr>
              <a:spcBef>
                <a:spcPts val="700"/>
              </a:spcBef>
              <a:defRPr sz="1300">
                <a:solidFill>
                  <a:srgbClr val="232A37"/>
                </a:solidFill>
                <a:latin typeface="Aptos"/>
              </a:defRPr>
            </a:pPr>
            <a:r>
              <a:t>Input matches the required condition → Door OPEN.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212080" cy="1554480"/>
          </a:xfrm>
          <a:prstGeom prst="roundRect">
            <a:avLst/>
          </a:prstGeom>
          <a:solidFill>
            <a:srgbClr val="F7F9FD"/>
          </a:solidFill>
          <a:ln w="19050">
            <a:solidFill>
              <a:srgbClr val="DA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19088" y="1755648"/>
            <a:ext cx="530352" cy="530352"/>
          </a:xfrm>
          <a:prstGeom prst="ellipse">
            <a:avLst/>
          </a:prstGeom>
          <a:solidFill>
            <a:srgbClr val="DA4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792224"/>
            <a:ext cx="5303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8FAFD"/>
                </a:solidFill>
              </a:defRPr>
            </a:pPr>
            <a:r>
              <a:t>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9168" y="1737360"/>
            <a:ext cx="41422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A4C56"/>
                </a:solidFill>
                <a:latin typeface="Aptos Display"/>
              </a:defRPr>
            </a:pPr>
            <a:r>
              <a:t>Test Case 2 — Wrong Input</a:t>
            </a:r>
          </a:p>
          <a:p>
            <a:pPr>
              <a:spcBef>
                <a:spcPts val="700"/>
              </a:spcBef>
              <a:defRPr sz="1300">
                <a:solidFill>
                  <a:srgbClr val="232A37"/>
                </a:solidFill>
                <a:latin typeface="Aptos"/>
              </a:defRPr>
            </a:pPr>
            <a:r>
              <a:t>Input does not match → Door remains LOCKED.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74720"/>
            <a:ext cx="10698480" cy="1554480"/>
          </a:xfrm>
          <a:prstGeom prst="roundRect">
            <a:avLst/>
          </a:prstGeom>
          <a:solidFill>
            <a:srgbClr val="F7F9FD"/>
          </a:solidFill>
          <a:ln w="19050">
            <a:solidFill>
              <a:srgbClr val="236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32688" y="3675887"/>
            <a:ext cx="530352" cy="530352"/>
          </a:xfrm>
          <a:prstGeom prst="ellipse">
            <a:avLst/>
          </a:prstGeom>
          <a:solidFill>
            <a:srgbClr val="236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712463"/>
            <a:ext cx="5303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8FAFD"/>
                </a:solidFill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657600"/>
            <a:ext cx="96286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367CF"/>
                </a:solidFill>
                <a:latin typeface="Aptos Display"/>
              </a:defRPr>
            </a:pPr>
            <a:r>
              <a:t>Expected Output</a:t>
            </a:r>
          </a:p>
          <a:p>
            <a:pPr>
              <a:spcBef>
                <a:spcPts val="700"/>
              </a:spcBef>
              <a:defRPr sz="1300">
                <a:solidFill>
                  <a:srgbClr val="232A37"/>
                </a:solidFill>
                <a:latin typeface="Aptos"/>
              </a:defRPr>
            </a:pPr>
            <a:r>
              <a:t>The simulation should clearly show two different results: ACCESS GRANTED or ACCESS DENIED.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0080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67082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81360" y="-320040"/>
            <a:ext cx="1554480" cy="1554480"/>
          </a:xfrm>
          <a:prstGeom prst="ellipse">
            <a:avLst/>
          </a:prstGeom>
          <a:solidFill>
            <a:srgbClr val="E8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75720" y="411480"/>
            <a:ext cx="594360" cy="594360"/>
          </a:xfrm>
          <a:prstGeom prst="ellipse">
            <a:avLst/>
          </a:prstGeom>
          <a:solidFill>
            <a:srgbClr val="36C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320040" y="6126480"/>
            <a:ext cx="914400" cy="914400"/>
          </a:xfrm>
          <a:prstGeom prst="ellipse">
            <a:avLst/>
          </a:prstGeom>
          <a:solidFill>
            <a:srgbClr val="E8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F"/>
                </a:solidFill>
                <a:latin typeface="Aptos Display"/>
              </a:defRPr>
            </a:pPr>
            <a:r>
              <a:t>8. Results &amp;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9728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2"/>
                </a:solidFill>
                <a:latin typeface="Aptos"/>
              </a:defRPr>
            </a:pPr>
            <a:r>
              <a:t>The design can be used as a basic model for electronic security.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1508760"/>
          </a:xfrm>
          <a:prstGeom prst="roundRect">
            <a:avLst/>
          </a:prstGeom>
          <a:solidFill>
            <a:srgbClr val="F7F9FD"/>
          </a:solidFill>
          <a:ln w="19050">
            <a:solidFill>
              <a:srgbClr val="2FA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2688" y="1755648"/>
            <a:ext cx="530352" cy="530352"/>
          </a:xfrm>
          <a:prstGeom prst="ellipse">
            <a:avLst/>
          </a:prstGeom>
          <a:solidFill>
            <a:srgbClr val="2FA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5303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8FAFD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37360"/>
            <a:ext cx="4142232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FAA70"/>
                </a:solidFill>
                <a:latin typeface="Aptos Display"/>
              </a:defRPr>
            </a:pPr>
            <a:r>
              <a:t>Result</a:t>
            </a:r>
          </a:p>
          <a:p>
            <a:pPr>
              <a:spcBef>
                <a:spcPts val="700"/>
              </a:spcBef>
              <a:defRPr sz="1300">
                <a:solidFill>
                  <a:srgbClr val="232A37"/>
                </a:solidFill>
                <a:latin typeface="Aptos"/>
              </a:defRPr>
            </a:pPr>
            <a:r>
              <a:t>The digital logic checks the input and controls the door output.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212080" cy="1508760"/>
          </a:xfrm>
          <a:prstGeom prst="roundRect">
            <a:avLst/>
          </a:prstGeom>
          <a:solidFill>
            <a:srgbClr val="F7F9FD"/>
          </a:solidFill>
          <a:ln w="19050">
            <a:solidFill>
              <a:srgbClr val="236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19088" y="1755648"/>
            <a:ext cx="530352" cy="530352"/>
          </a:xfrm>
          <a:prstGeom prst="ellipse">
            <a:avLst/>
          </a:prstGeom>
          <a:solidFill>
            <a:srgbClr val="236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792224"/>
            <a:ext cx="5303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8FAFD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9168" y="1737360"/>
            <a:ext cx="4142232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367CF"/>
                </a:solidFill>
                <a:latin typeface="Aptos Display"/>
              </a:defRPr>
            </a:pPr>
            <a:r>
              <a:t>Result</a:t>
            </a:r>
          </a:p>
          <a:p>
            <a:pPr>
              <a:spcBef>
                <a:spcPts val="700"/>
              </a:spcBef>
              <a:defRPr sz="1300">
                <a:solidFill>
                  <a:srgbClr val="232A37"/>
                </a:solidFill>
                <a:latin typeface="Aptos"/>
              </a:defRPr>
            </a:pPr>
            <a:r>
              <a:t>Simulation makes it easy to test correct and incorrect inputs.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74720"/>
            <a:ext cx="3383280" cy="1508760"/>
          </a:xfrm>
          <a:prstGeom prst="roundRect">
            <a:avLst/>
          </a:prstGeom>
          <a:solidFill>
            <a:srgbClr val="F7F9FD"/>
          </a:solidFill>
          <a:ln w="19050">
            <a:solidFill>
              <a:srgbClr val="744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32688" y="3675887"/>
            <a:ext cx="530352" cy="530352"/>
          </a:xfrm>
          <a:prstGeom prst="ellipse">
            <a:avLst/>
          </a:prstGeom>
          <a:solidFill>
            <a:srgbClr val="744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712463"/>
            <a:ext cx="5303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8FAFD"/>
                </a:solidFill>
              </a:defRPr>
            </a:pPr>
            <a:r>
              <a:t>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657600"/>
            <a:ext cx="2313432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744CC2"/>
                </a:solidFill>
                <a:latin typeface="Aptos Display"/>
              </a:defRPr>
            </a:pPr>
            <a:r>
              <a:t>Homes</a:t>
            </a:r>
          </a:p>
          <a:p>
            <a:pPr>
              <a:spcBef>
                <a:spcPts val="700"/>
              </a:spcBef>
              <a:defRPr sz="1300">
                <a:solidFill>
                  <a:srgbClr val="232A37"/>
                </a:solidFill>
                <a:latin typeface="Aptos"/>
              </a:defRPr>
            </a:pPr>
            <a:r>
              <a:t>Digital entry systems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474720"/>
            <a:ext cx="3383280" cy="1508760"/>
          </a:xfrm>
          <a:prstGeom prst="roundRect">
            <a:avLst/>
          </a:prstGeom>
          <a:solidFill>
            <a:srgbClr val="F7F9FD"/>
          </a:solidFill>
          <a:ln w="19050">
            <a:solidFill>
              <a:srgbClr val="F19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590288" y="3675887"/>
            <a:ext cx="530352" cy="530352"/>
          </a:xfrm>
          <a:prstGeom prst="ellipse">
            <a:avLst/>
          </a:prstGeom>
          <a:solidFill>
            <a:srgbClr val="F19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90288" y="3712463"/>
            <a:ext cx="5303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8FAFD"/>
                </a:solidFill>
              </a:defRPr>
            </a:pPr>
            <a:r>
              <a:t>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3657600"/>
            <a:ext cx="2313432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19736"/>
                </a:solidFill>
                <a:latin typeface="Aptos Display"/>
              </a:defRPr>
            </a:pPr>
            <a:r>
              <a:t>Offices</a:t>
            </a:r>
          </a:p>
          <a:p>
            <a:pPr>
              <a:spcBef>
                <a:spcPts val="700"/>
              </a:spcBef>
              <a:defRPr sz="1300">
                <a:solidFill>
                  <a:srgbClr val="232A37"/>
                </a:solidFill>
                <a:latin typeface="Aptos"/>
              </a:defRPr>
            </a:pPr>
            <a:r>
              <a:t>Restricted rooms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474720"/>
            <a:ext cx="3383280" cy="1508760"/>
          </a:xfrm>
          <a:prstGeom prst="roundRect">
            <a:avLst/>
          </a:prstGeom>
          <a:solidFill>
            <a:srgbClr val="F7F9FD"/>
          </a:solidFill>
          <a:ln w="19050">
            <a:solidFill>
              <a:srgbClr val="E8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247888" y="3675887"/>
            <a:ext cx="530352" cy="530352"/>
          </a:xfrm>
          <a:prstGeom prst="ellipse">
            <a:avLst/>
          </a:prstGeom>
          <a:solidFill>
            <a:srgbClr val="E8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47888" y="3712463"/>
            <a:ext cx="5303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8FAFD"/>
                </a:solidFill>
              </a:defRPr>
            </a:pPr>
            <a:r>
              <a:t>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8" y="3657600"/>
            <a:ext cx="2313432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85B96"/>
                </a:solidFill>
                <a:latin typeface="Aptos Display"/>
              </a:defRPr>
            </a:pPr>
            <a:r>
              <a:t>Labs</a:t>
            </a:r>
          </a:p>
          <a:p>
            <a:pPr>
              <a:spcBef>
                <a:spcPts val="700"/>
              </a:spcBef>
              <a:defRPr sz="1300">
                <a:solidFill>
                  <a:srgbClr val="232A37"/>
                </a:solidFill>
                <a:latin typeface="Aptos"/>
              </a:defRPr>
            </a:pPr>
            <a:r>
              <a:t>Secure equipment areas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0080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67082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81360" y="-320040"/>
            <a:ext cx="1554480" cy="1554480"/>
          </a:xfrm>
          <a:prstGeom prst="ellipse">
            <a:avLst/>
          </a:prstGeom>
          <a:solidFill>
            <a:srgbClr val="236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75720" y="411480"/>
            <a:ext cx="594360" cy="594360"/>
          </a:xfrm>
          <a:prstGeom prst="ellipse">
            <a:avLst/>
          </a:prstGeom>
          <a:solidFill>
            <a:srgbClr val="36C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320040" y="6126480"/>
            <a:ext cx="914400" cy="914400"/>
          </a:xfrm>
          <a:prstGeom prst="ellipse">
            <a:avLst/>
          </a:prstGeom>
          <a:solidFill>
            <a:srgbClr val="E8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212080" y="1325880"/>
            <a:ext cx="1737360" cy="1920240"/>
          </a:xfrm>
          <a:prstGeom prst="roundRect">
            <a:avLst/>
          </a:prstGeom>
          <a:solidFill>
            <a:srgbClr val="236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rc 5"/>
          <p:cNvSpPr/>
          <p:nvPr/>
        </p:nvSpPr>
        <p:spPr>
          <a:xfrm>
            <a:off x="5532120" y="594360"/>
            <a:ext cx="1097280" cy="1325880"/>
          </a:xfrm>
          <a:prstGeom prst="arc">
            <a:avLst/>
          </a:prstGeom>
          <a:noFill/>
          <a:ln w="127000">
            <a:solidFill>
              <a:srgbClr val="36C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8FAFD"/>
                </a:solidFill>
                <a:latin typeface="Aptos Display"/>
              </a:defRPr>
            </a:pPr>
            <a:r>
              <a:t>THANK YOU</a:t>
            </a:r>
          </a:p>
          <a:p>
            <a:pPr algn="ctr">
              <a:defRPr sz="1800">
                <a:solidFill>
                  <a:srgbClr val="36C4CD"/>
                </a:solidFill>
              </a:defRPr>
            </a:pPr>
            <a:r>
              <a:t>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080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AB4C8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719</Words>
  <Application>Microsoft Office PowerPoint</Application>
  <PresentationFormat>Widescreen</PresentationFormat>
  <Paragraphs>147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NISHA MAJUMDAR</dc:creator>
  <cp:keywords/>
  <dc:description>generated using python-pptx</dc:description>
  <cp:lastModifiedBy>Survi Sudhakar</cp:lastModifiedBy>
  <cp:revision>4</cp:revision>
  <dcterms:created xsi:type="dcterms:W3CDTF">2013-01-27T09:14:16Z</dcterms:created>
  <dcterms:modified xsi:type="dcterms:W3CDTF">2026-09-30T14:58:51Z</dcterms:modified>
  <cp:category/>
</cp:coreProperties>
</file>