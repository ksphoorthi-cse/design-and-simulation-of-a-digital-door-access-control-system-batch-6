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Atkinson Hyperlegible Next Bold" panose="020B0604020202020204" charset="0"/>
      <p:regular r:id="rId12"/>
    </p:embeddedFont>
    <p:embeddedFont>
      <p:font typeface="Atkinson Hyperlegible Next ExtraBold" panose="020B0604020202020204" charset="0"/>
      <p:regular r:id="rId13"/>
    </p:embeddedFont>
    <p:embeddedFont>
      <p:font typeface="Atkinson Hyperlegible Next Semi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Inter" panose="020B0604020202020204" charset="0"/>
      <p:regular r:id="rId19"/>
    </p:embeddedFont>
    <p:embeddedFont>
      <p:font typeface="Inter Bold" panose="020B0604020202020204" charset="0"/>
      <p:regular r:id="rId20"/>
    </p:embeddedFont>
    <p:embeddedFont>
      <p:font typeface="Inter Semi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80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1670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>
              <a:alpha val="8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84" y="116086"/>
            <a:ext cx="12191695" cy="6858000"/>
          </a:xfrm>
          <a:prstGeom prst="rect">
            <a:avLst/>
          </a:prstGeom>
        </p:spPr>
      </p:pic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8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8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8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8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8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8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8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8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0120"/>
            <a:ext cx="643119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ENGINEERING PROJECT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189" y="785515"/>
            <a:ext cx="5821614" cy="506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6000" kern="0" spc="-210" dirty="0">
                <a:solidFill>
                  <a:srgbClr val="FFFFFF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DESIGN AND</a:t>
            </a:r>
            <a:endParaRPr lang="en-US" sz="60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6000" kern="0" spc="-210" dirty="0">
                <a:solidFill>
                  <a:srgbClr val="FFFFFF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SIMULATION OF A</a:t>
            </a:r>
            <a:endParaRPr lang="en-US" sz="60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6000" kern="0" spc="-210" dirty="0">
                <a:solidFill>
                  <a:srgbClr val="539CDF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DIGITAL DOOR</a:t>
            </a:r>
            <a:endParaRPr lang="en-US" sz="60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6000" kern="0" spc="-210" dirty="0">
                <a:solidFill>
                  <a:srgbClr val="FFFFFF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ACCESS CONTROL SYSTEM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189" y="6078240"/>
            <a:ext cx="6431198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dependable credential-to-lock decision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040684" y="0"/>
            <a:ext cx="5151011" cy="6858000"/>
          </a:xfrm>
          <a:custGeom>
            <a:avLst/>
            <a:gdLst/>
            <a:ahLst/>
            <a:cxnLst/>
            <a:rect l="l" t="t" r="r" b="b"/>
            <a:pathLst>
              <a:path w="5151011" h="6858000">
                <a:moveTo>
                  <a:pt x="0" y="0"/>
                </a:moveTo>
                <a:lnTo>
                  <a:pt x="4998596" y="0"/>
                </a:lnTo>
                <a:arcTo wR="152415" hR="152419" stAng="16200000" swAng="5400000"/>
                <a:lnTo>
                  <a:pt x="5151011" y="6705581"/>
                </a:lnTo>
                <a:arcTo wR="152415" hR="152419" stAng="0" swAng="5400000"/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E5384">
              <a:alpha val="6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421674" y="1139130"/>
            <a:ext cx="477002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B9D4E8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AN INITIATIVE PROJECT BY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21674" y="1555651"/>
            <a:ext cx="4389030" cy="2107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spcAft>
                <a:spcPts val="1550"/>
              </a:spcAft>
              <a:buNone/>
            </a:pPr>
            <a:r>
              <a:rPr lang="en-US" sz="2000" b="1" dirty="0">
                <a:solidFill>
                  <a:srgbClr val="B9D4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K. Sphoorthi</a:t>
            </a:r>
            <a:r>
              <a:rPr lang="en-US" sz="2000" dirty="0">
                <a:solidFill>
                  <a:srgbClr val="B9D4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2620030567</a:t>
            </a:r>
            <a:endParaRPr lang="en-US" sz="2000" dirty="0"/>
          </a:p>
          <a:p>
            <a:pPr marL="0" indent="0" algn="l">
              <a:lnSpc>
                <a:spcPct val="98000"/>
              </a:lnSpc>
              <a:spcAft>
                <a:spcPts val="1550"/>
              </a:spcAft>
              <a:buNone/>
            </a:pPr>
            <a:r>
              <a:rPr lang="en-US" sz="2000" b="1" dirty="0">
                <a:solidFill>
                  <a:srgbClr val="B9D4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S. Nishita</a:t>
            </a:r>
            <a:r>
              <a:rPr lang="en-US" sz="2000" dirty="0">
                <a:solidFill>
                  <a:srgbClr val="B9D4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2620030581</a:t>
            </a:r>
            <a:endParaRPr lang="en-US" sz="2000" dirty="0"/>
          </a:p>
          <a:p>
            <a:pPr marL="0" indent="0" algn="l">
              <a:lnSpc>
                <a:spcPct val="98000"/>
              </a:lnSpc>
              <a:spcAft>
                <a:spcPts val="1550"/>
              </a:spcAft>
              <a:buNone/>
            </a:pPr>
            <a:r>
              <a:rPr lang="en-US" sz="2000" b="1" dirty="0">
                <a:solidFill>
                  <a:srgbClr val="B9D4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M. Nisha</a:t>
            </a:r>
            <a:r>
              <a:rPr lang="en-US" sz="2000" dirty="0">
                <a:solidFill>
                  <a:srgbClr val="B9D4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2620030589</a:t>
            </a:r>
            <a:endParaRPr lang="en-US" sz="2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B9D4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G.V. Vikranth Reddy</a:t>
            </a:r>
            <a:r>
              <a:rPr lang="en-US" sz="2000" dirty="0">
                <a:solidFill>
                  <a:srgbClr val="B9D4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2620030584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421674" y="3928566"/>
            <a:ext cx="4388931" cy="31651"/>
          </a:xfrm>
          <a:prstGeom prst="roundRect">
            <a:avLst>
              <a:gd name="adj" fmla="val 49998"/>
            </a:avLst>
          </a:prstGeom>
          <a:solidFill>
            <a:srgbClr val="7DD3FC">
              <a:alpha val="3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421674" y="4225429"/>
            <a:ext cx="4389030" cy="149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7000"/>
              </a:lnSpc>
              <a:spcAft>
                <a:spcPts val="1550"/>
              </a:spcAft>
              <a:buNone/>
            </a:pPr>
            <a:endParaRPr lang="en-US" sz="1500" dirty="0"/>
          </a:p>
          <a:p>
            <a:pPr marL="0" indent="0" algn="l">
              <a:lnSpc>
                <a:spcPct val="97000"/>
              </a:lnSpc>
              <a:spcAft>
                <a:spcPts val="1550"/>
              </a:spcAft>
              <a:buNone/>
            </a:pPr>
            <a:r>
              <a:rPr lang="en-US" sz="1500" b="1" dirty="0">
                <a:solidFill>
                  <a:srgbClr val="B9D4E8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Department:</a:t>
            </a:r>
            <a:r>
              <a:rPr lang="en-US" sz="1500" dirty="0">
                <a:solidFill>
                  <a:srgbClr val="B9D4E8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 [Computer Science]</a:t>
            </a:r>
            <a:endParaRPr lang="en-US" sz="1500" dirty="0"/>
          </a:p>
          <a:p>
            <a:pPr marL="0" indent="0" algn="l">
              <a:lnSpc>
                <a:spcPct val="97000"/>
              </a:lnSpc>
              <a:spcAft>
                <a:spcPts val="1550"/>
              </a:spcAft>
              <a:buNone/>
            </a:pPr>
            <a:r>
              <a:rPr lang="en-US" sz="1500" b="1" dirty="0">
                <a:solidFill>
                  <a:srgbClr val="B9D4E8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College:</a:t>
            </a:r>
            <a:r>
              <a:rPr lang="en-US" sz="1500" dirty="0">
                <a:solidFill>
                  <a:srgbClr val="B9D4E8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 [KL university]</a:t>
            </a:r>
            <a:endParaRPr lang="en-US" sz="1500" dirty="0"/>
          </a:p>
          <a:p>
            <a:pPr marL="0" indent="0" algn="l">
              <a:lnSpc>
                <a:spcPct val="97000"/>
              </a:lnSpc>
              <a:buNone/>
            </a:pPr>
            <a:r>
              <a:rPr lang="en-US" sz="1500" b="1" dirty="0">
                <a:solidFill>
                  <a:srgbClr val="B9D4E8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Academic year:</a:t>
            </a:r>
            <a:r>
              <a:rPr lang="en-US" sz="1500" dirty="0">
                <a:solidFill>
                  <a:srgbClr val="B9D4E8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 [2026-2030]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862659"/>
          </a:xfrm>
          <a:custGeom>
            <a:avLst/>
            <a:gdLst/>
            <a:ahLst/>
            <a:cxnLst/>
            <a:rect l="l" t="t" r="r" b="b"/>
            <a:pathLst>
              <a:path w="12191695" h="2862659">
                <a:moveTo>
                  <a:pt x="152415" y="0"/>
                </a:moveTo>
                <a:lnTo>
                  <a:pt x="12039280" y="0"/>
                </a:lnTo>
                <a:arcTo wR="152415" hR="152419" stAng="16200000" swAng="5400000"/>
                <a:lnTo>
                  <a:pt x="12191695" y="2862659"/>
                </a:lnTo>
                <a:lnTo>
                  <a:pt x="0" y="2862659"/>
                </a:lnTo>
                <a:lnTo>
                  <a:pt x="0" y="152419"/>
                </a:lnTo>
                <a:arcTo wR="152415" hR="152419" stAng="10800000" swAng="5400000"/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431800"/>
            <a:ext cx="116583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01 · WHY ACCESS CONTROL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33387" y="737195"/>
            <a:ext cx="11124922" cy="868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0" spc="-12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 CONTROL PROTECTS</a:t>
            </a:r>
            <a:endParaRPr lang="en-US" sz="36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3600" b="1" kern="0" spc="-12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PEOPLE, ASSETS, AND </a:t>
            </a:r>
            <a:r>
              <a:rPr lang="en-US" sz="3600" b="1" kern="0" spc="-126" dirty="0">
                <a:solidFill>
                  <a:srgbClr val="539C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INFORMATION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33387" y="1831181"/>
            <a:ext cx="11658308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digital door verifies an authorized user before releasing the lock.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3387" y="2209899"/>
            <a:ext cx="11658308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Security becomes a repeatable decision—not a judgment made at the door.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75" y="3959126"/>
            <a:ext cx="634984" cy="635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0575" y="4981476"/>
            <a:ext cx="279393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credential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90575" y="5461893"/>
            <a:ext cx="3403515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is captured.</a:t>
            </a:r>
            <a:endParaRPr lang="en-US" sz="2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882" y="3650059"/>
            <a:ext cx="634984" cy="635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98882" y="4672409"/>
            <a:ext cx="2793930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Controller verification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698882" y="5471319"/>
            <a:ext cx="2793930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Stored value is checked.</a:t>
            </a:r>
            <a:endParaRPr lang="en-US" sz="2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190" y="3809305"/>
            <a:ext cx="634984" cy="635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07190" y="4831655"/>
            <a:ext cx="279393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Lock status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407190" y="5312073"/>
            <a:ext cx="2793930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Unlock or alarm follows.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custGeom>
            <a:avLst/>
            <a:gdLst/>
            <a:ahLst/>
            <a:cxnLst/>
            <a:rect l="l" t="t" r="r" b="b"/>
            <a:pathLst>
              <a:path w="4876678" h="6858000">
                <a:moveTo>
                  <a:pt x="152415" y="0"/>
                </a:moveTo>
                <a:lnTo>
                  <a:pt x="4876678" y="0"/>
                </a:lnTo>
                <a:lnTo>
                  <a:pt x="4876678" y="6858000"/>
                </a:lnTo>
                <a:lnTo>
                  <a:pt x="152415" y="6858000"/>
                </a:lnTo>
                <a:arcTo wR="152415" hR="152419" stAng="5400000" swAng="5400000"/>
                <a:lnTo>
                  <a:pt x="0" y="152419"/>
                </a:lnTo>
                <a:arcTo wR="152415" hR="152419" stAng="10800000" swAng="5400000"/>
                <a:close/>
              </a:path>
            </a:pathLst>
          </a:custGeom>
          <a:solidFill>
            <a:srgbClr val="1E5384">
              <a:alpha val="6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1529259"/>
            <a:ext cx="457188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B9D4E8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02 · THE GAP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189" y="1834654"/>
            <a:ext cx="3962301" cy="2605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0" spc="-126" dirty="0">
                <a:solidFill>
                  <a:srgbClr val="B9D4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TRADITIONAL LOCKS LEAVE A GAP FOR CONTROLLED, </a:t>
            </a:r>
            <a:r>
              <a:rPr lang="en-US" sz="3600" b="1" kern="0" spc="-126" dirty="0">
                <a:solidFill>
                  <a:srgbClr val="539C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TRACEABLE</a:t>
            </a:r>
            <a:r>
              <a:rPr lang="en-US" sz="3600" b="1" kern="0" spc="-126" dirty="0">
                <a:solidFill>
                  <a:srgbClr val="B9D4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ACCESS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189" y="4665762"/>
            <a:ext cx="3962301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500" dirty="0">
                <a:solidFill>
                  <a:srgbClr val="B9D4E8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The design need is simple: authenticate users, control the door electronically, and signal denied access.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76678" y="110034"/>
            <a:ext cx="3505112" cy="3961209"/>
          </a:xfrm>
          <a:prstGeom prst="rect">
            <a:avLst/>
          </a:prstGeom>
          <a:solidFill>
            <a:srgbClr val="2A3E59"/>
          </a:solidFill>
          <a:ln/>
        </p:spPr>
      </p:sp>
      <p:sp>
        <p:nvSpPr>
          <p:cNvPr id="7" name="Text 5"/>
          <p:cNvSpPr/>
          <p:nvPr/>
        </p:nvSpPr>
        <p:spPr>
          <a:xfrm>
            <a:off x="5333867" y="567234"/>
            <a:ext cx="320032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3867" y="872629"/>
            <a:ext cx="2590735" cy="781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Authorized match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333867" y="1816199"/>
            <a:ext cx="2590735" cy="179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access control system permits entry only when the presented credential matches an authorized value.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583" y="110034"/>
            <a:ext cx="3505112" cy="3961209"/>
          </a:xfrm>
          <a:custGeom>
            <a:avLst/>
            <a:gdLst/>
            <a:ahLst/>
            <a:cxnLst/>
            <a:rect l="l" t="t" r="r" b="b"/>
            <a:pathLst>
              <a:path w="3505112" h="3961209">
                <a:moveTo>
                  <a:pt x="0" y="0"/>
                </a:moveTo>
                <a:lnTo>
                  <a:pt x="3352697" y="0"/>
                </a:lnTo>
                <a:arcTo wR="152415" hR="152419" stAng="16200000" swAng="5400000"/>
                <a:lnTo>
                  <a:pt x="3505112" y="3961209"/>
                </a:lnTo>
                <a:lnTo>
                  <a:pt x="0" y="3961209"/>
                </a:lnTo>
                <a:lnTo>
                  <a:pt x="0" y="0"/>
                </a:lnTo>
                <a:close/>
              </a:path>
            </a:pathLst>
          </a:custGeom>
          <a:solidFill>
            <a:srgbClr val="2A3E59"/>
          </a:solidFill>
          <a:ln/>
        </p:spPr>
      </p:sp>
      <p:sp>
        <p:nvSpPr>
          <p:cNvPr id="11" name="Text 9"/>
          <p:cNvSpPr/>
          <p:nvPr/>
        </p:nvSpPr>
        <p:spPr>
          <a:xfrm>
            <a:off x="9143771" y="912416"/>
            <a:ext cx="304792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LIMITATION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3771" y="1217811"/>
            <a:ext cx="2590735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Physical keys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3771" y="1770559"/>
            <a:ext cx="2590735" cy="1498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Keys can be lost, copied, or shared; manual checking is slow and inconsistent.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76678" y="4376043"/>
            <a:ext cx="7315017" cy="2371824"/>
          </a:xfrm>
          <a:custGeom>
            <a:avLst/>
            <a:gdLst/>
            <a:ahLst/>
            <a:cxnLst/>
            <a:rect l="l" t="t" r="r" b="b"/>
            <a:pathLst>
              <a:path w="7315017" h="2371824">
                <a:moveTo>
                  <a:pt x="0" y="0"/>
                </a:moveTo>
                <a:lnTo>
                  <a:pt x="7315017" y="0"/>
                </a:lnTo>
                <a:lnTo>
                  <a:pt x="7315017" y="2219405"/>
                </a:lnTo>
                <a:arcTo wR="152415" hR="152419" stAng="0" swAng="5400000"/>
                <a:lnTo>
                  <a:pt x="0" y="2371824"/>
                </a:lnTo>
                <a:lnTo>
                  <a:pt x="0" y="0"/>
                </a:lnTo>
                <a:close/>
              </a:path>
            </a:pathLst>
          </a:custGeom>
          <a:solidFill>
            <a:srgbClr val="EA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5333867" y="4833243"/>
            <a:ext cx="685782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NEED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33867" y="5138638"/>
            <a:ext cx="6400640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 response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5333867" y="5691386"/>
            <a:ext cx="6400640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compact system should authenticate, actuate, and alert.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63978" y="0"/>
            <a:ext cx="25399" cy="6858000"/>
          </a:xfrm>
          <a:prstGeom prst="rect">
            <a:avLst/>
          </a:prstGeom>
          <a:solidFill>
            <a:srgbClr val="07142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8033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03 · PROJECT AIM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189" y="885726"/>
            <a:ext cx="11277318" cy="868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0" spc="-12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PROJECT TURNS AUTHENTICATION INTO A </a:t>
            </a:r>
            <a:r>
              <a:rPr lang="en-US" sz="3600" b="1" kern="0" spc="-126" dirty="0">
                <a:solidFill>
                  <a:srgbClr val="539C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DEPENDABLE DECISION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189" y="1979712"/>
            <a:ext cx="493799" cy="493812"/>
          </a:xfrm>
          <a:prstGeom prst="ellipse">
            <a:avLst/>
          </a:prstGeom>
          <a:noFill/>
          <a:ln w="19050">
            <a:solidFill>
              <a:srgbClr val="EA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736" y="2099568"/>
            <a:ext cx="93828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EAF6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03384" y="2074168"/>
            <a:ext cx="11088311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digital door access system suitable for simulation and demonstration.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189" y="2930723"/>
            <a:ext cx="493799" cy="493812"/>
          </a:xfrm>
          <a:prstGeom prst="ellipse">
            <a:avLst/>
          </a:prstGeom>
          <a:noFill/>
          <a:ln w="19050">
            <a:solidFill>
              <a:srgbClr val="EAF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736" y="3050580"/>
            <a:ext cx="93828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EAF6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03384" y="3025180"/>
            <a:ext cx="11088311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Accept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user credential through a keypad-based input stage.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189" y="3881735"/>
            <a:ext cx="493799" cy="493812"/>
          </a:xfrm>
          <a:prstGeom prst="ellipse">
            <a:avLst/>
          </a:prstGeom>
          <a:noFill/>
          <a:ln w="19050">
            <a:solidFill>
              <a:srgbClr val="EAF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736" y="4001591"/>
            <a:ext cx="93828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EAF6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03384" y="3976191"/>
            <a:ext cx="11088311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Compare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entered credential with the stored authorized value.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189" y="4832747"/>
            <a:ext cx="493799" cy="493812"/>
          </a:xfrm>
          <a:prstGeom prst="ellipse">
            <a:avLst/>
          </a:prstGeom>
          <a:noFill/>
          <a:ln w="19050">
            <a:solidFill>
              <a:srgbClr val="EAF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736" y="4952603"/>
            <a:ext cx="93828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EAF6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03384" y="4927203"/>
            <a:ext cx="11088311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Drive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 electronic lock for valid access and an alarm indication for invalid access.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189" y="5783759"/>
            <a:ext cx="493799" cy="493812"/>
          </a:xfrm>
          <a:prstGeom prst="ellipse">
            <a:avLst/>
          </a:prstGeom>
          <a:noFill/>
          <a:ln w="19050">
            <a:solidFill>
              <a:srgbClr val="EAF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736" y="5903615"/>
            <a:ext cx="93828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EAF6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03384" y="5878215"/>
            <a:ext cx="11088311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Represent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status clearly through indicators or a display.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189" y="2695773"/>
            <a:ext cx="11277318" cy="12700"/>
          </a:xfrm>
          <a:prstGeom prst="rect">
            <a:avLst/>
          </a:prstGeom>
          <a:solidFill>
            <a:srgbClr val="07142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189" y="3646785"/>
            <a:ext cx="11277318" cy="12700"/>
          </a:xfrm>
          <a:prstGeom prst="rect">
            <a:avLst/>
          </a:prstGeom>
          <a:solidFill>
            <a:srgbClr val="071426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189" y="4597797"/>
            <a:ext cx="11277318" cy="12700"/>
          </a:xfrm>
          <a:prstGeom prst="rect">
            <a:avLst/>
          </a:prstGeom>
          <a:solidFill>
            <a:srgbClr val="071426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189" y="5548809"/>
            <a:ext cx="11277318" cy="12700"/>
          </a:xfrm>
          <a:prstGeom prst="rect">
            <a:avLst/>
          </a:prstGeom>
          <a:solidFill>
            <a:srgbClr val="07142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custGeom>
            <a:avLst/>
            <a:gdLst/>
            <a:ahLst/>
            <a:cxnLst/>
            <a:rect l="l" t="t" r="r" b="b"/>
            <a:pathLst>
              <a:path w="4470288" h="6858000">
                <a:moveTo>
                  <a:pt x="152415" y="0"/>
                </a:moveTo>
                <a:lnTo>
                  <a:pt x="4470288" y="0"/>
                </a:lnTo>
                <a:lnTo>
                  <a:pt x="4470288" y="6858000"/>
                </a:lnTo>
                <a:lnTo>
                  <a:pt x="152415" y="6858000"/>
                </a:lnTo>
                <a:arcTo wR="152415" hR="152419" stAng="5400000" swAng="5400000"/>
                <a:lnTo>
                  <a:pt x="0" y="152419"/>
                </a:lnTo>
                <a:arcTo wR="152415" hR="152419" stAng="10800000" swAng="5400000"/>
                <a:close/>
              </a:path>
            </a:pathLst>
          </a:custGeom>
          <a:solidFill>
            <a:srgbClr val="1E5384">
              <a:alpha val="6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1746448"/>
            <a:ext cx="416549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B9D4E8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04 · EXISTING SYSTEMS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189" y="2051844"/>
            <a:ext cx="3555911" cy="217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0" spc="-126" dirty="0">
                <a:solidFill>
                  <a:srgbClr val="B9D4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EXISTING SYSTEMS TRADE CONVENIENCE FOR </a:t>
            </a:r>
            <a:r>
              <a:rPr lang="en-US" sz="3600" b="1" kern="0" spc="-126" dirty="0">
                <a:solidFill>
                  <a:srgbClr val="539C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189" y="4448671"/>
            <a:ext cx="3555911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500" dirty="0">
                <a:solidFill>
                  <a:srgbClr val="B9D4E8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The project gap is a compact design that combines authentication, actuation, feedback, and alert logic.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27477" y="1152327"/>
          <a:ext cx="9143771" cy="914400"/>
        </p:xfrm>
        <a:graphic>
          <a:graphicData uri="http://schemas.openxmlformats.org/drawingml/2006/table">
            <a:tbl>
              <a:tblPr/>
              <a:tblGrid>
                <a:gridCol w="1497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2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67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System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796" marR="177796" marT="152396" marB="152396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Strength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796" marR="177796" marT="152396" marB="152396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Limitation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796" marR="177796" marT="152396" marB="152396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is missing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796" marR="177796" marT="152396" marB="152396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6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Mechanical key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796" marR="177796" marT="152396" marB="152396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Simple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796" marR="177796" marT="152396" marB="152396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Key can be lost or copied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796" marR="177796" marT="152396" marB="152396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Controlled, traceable entry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796" marR="177796" marT="152396" marB="152396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6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Manual checking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796" marR="177796" marT="152396" marB="152396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Human judgment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796" marR="177796" marT="152396" marB="152396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Slow and inconsistent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796" marR="177796" marT="152396" marB="152396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Repeatable decision logic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796" marR="177796" marT="152396" marB="152396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36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Basic electronic lock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796" marR="177796" marT="152396" marB="152396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Remote or digital control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796" marR="177796" marT="152396" marB="152396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Limited feedback and logic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796" marR="177796" marT="152396" marB="152396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Clear valid/invalid response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796" marR="177796" marT="152396" marB="152396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F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39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05 · PROPOSED ARCHITECTURE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189" y="770334"/>
            <a:ext cx="11277318" cy="868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0" spc="-12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PROPOSED SYSTEM SEPARATES </a:t>
            </a:r>
            <a:r>
              <a:rPr lang="en-US" sz="3600" b="1" kern="0" spc="-126" dirty="0">
                <a:solidFill>
                  <a:srgbClr val="539C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</a:t>
            </a:r>
            <a:r>
              <a:rPr lang="en-US" sz="3600" b="1" kern="0" spc="-12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, LOGIC, AND ACTUATION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189" y="1864320"/>
            <a:ext cx="2133547" cy="2447429"/>
          </a:xfrm>
          <a:prstGeom prst="rect">
            <a:avLst/>
          </a:prstGeom>
          <a:solidFill>
            <a:srgbClr val="1E5384">
              <a:alpha val="62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470" y="2092920"/>
            <a:ext cx="634984" cy="63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7787" y="2931120"/>
            <a:ext cx="1272349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B9D4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Keypad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85783" y="3483868"/>
            <a:ext cx="1676358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000" dirty="0">
                <a:solidFill>
                  <a:srgbClr val="B9D4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credential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886201" y="2092920"/>
            <a:ext cx="42484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600" b="1" kern="0" spc="-9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3606611" y="1864320"/>
            <a:ext cx="2844828" cy="2447429"/>
          </a:xfrm>
          <a:prstGeom prst="rect">
            <a:avLst/>
          </a:prstGeom>
          <a:solidFill>
            <a:srgbClr val="EAF6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83" y="2092920"/>
            <a:ext cx="634984" cy="635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39957" y="2931120"/>
            <a:ext cx="2578135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Microcontroller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3835205" y="3483868"/>
            <a:ext cx="2387639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reference value and compare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746905" y="2092920"/>
            <a:ext cx="42484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600" b="1" kern="0" spc="-9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→</a:t>
            </a:r>
            <a:endParaRPr lang="en-US" sz="3600" dirty="0"/>
          </a:p>
        </p:txBody>
      </p:sp>
      <p:sp>
        <p:nvSpPr>
          <p:cNvPr id="14" name="Shape 10"/>
          <p:cNvSpPr/>
          <p:nvPr/>
        </p:nvSpPr>
        <p:spPr>
          <a:xfrm>
            <a:off x="7467314" y="1864320"/>
            <a:ext cx="4267192" cy="2447429"/>
          </a:xfrm>
          <a:prstGeom prst="rect">
            <a:avLst/>
          </a:prstGeom>
          <a:solidFill>
            <a:srgbClr val="1E5384">
              <a:alpha val="62000"/>
            </a:srgbClr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3369" y="2092920"/>
            <a:ext cx="634984" cy="635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86563" y="2931120"/>
            <a:ext cx="2228695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B9D4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Relay / driver</a:t>
            </a:r>
            <a:endParaRPr lang="en-US" sz="2700" dirty="0"/>
          </a:p>
        </p:txBody>
      </p:sp>
      <p:sp>
        <p:nvSpPr>
          <p:cNvPr id="17" name="Text 12"/>
          <p:cNvSpPr/>
          <p:nvPr/>
        </p:nvSpPr>
        <p:spPr>
          <a:xfrm>
            <a:off x="7903171" y="3483868"/>
            <a:ext cx="3395379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000" dirty="0">
                <a:solidFill>
                  <a:srgbClr val="B9D4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 electronic lock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457189" y="4514949"/>
            <a:ext cx="5562461" cy="1453952"/>
          </a:xfrm>
          <a:prstGeom prst="roundRect">
            <a:avLst>
              <a:gd name="adj" fmla="val 7337"/>
            </a:avLst>
          </a:prstGeom>
          <a:noFill/>
          <a:ln w="25399">
            <a:solidFill>
              <a:srgbClr val="43577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11182" y="4768949"/>
            <a:ext cx="566405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539CD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VALID PATH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11182" y="5115620"/>
            <a:ext cx="5054474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Credential match → unlock command → lock opens briefly.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6172046" y="4514949"/>
            <a:ext cx="5562461" cy="1453952"/>
          </a:xfrm>
          <a:prstGeom prst="roundRect">
            <a:avLst>
              <a:gd name="adj" fmla="val 7337"/>
            </a:avLst>
          </a:prstGeom>
          <a:noFill/>
          <a:ln w="25399">
            <a:solidFill>
              <a:srgbClr val="43577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26039" y="4768949"/>
            <a:ext cx="566405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INVALID PATH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26039" y="5115620"/>
            <a:ext cx="5054474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match → locked state → buzzer and status indication.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152396" y="6172101"/>
            <a:ext cx="11886903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Simulation view: observe the signal path from credential entry to unlock or alarm.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06 · MODULE ARCHITECTURE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189" y="762595"/>
            <a:ext cx="11277318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0" spc="-12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FIVE MODULES MAKE THE DESIGN </a:t>
            </a:r>
            <a:r>
              <a:rPr lang="en-US" sz="3600" b="1" kern="0" spc="-126" dirty="0">
                <a:solidFill>
                  <a:srgbClr val="539C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EASY TO TEST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189" y="1422301"/>
            <a:ext cx="3606710" cy="2698552"/>
          </a:xfrm>
          <a:prstGeom prst="roundRect">
            <a:avLst>
              <a:gd name="adj" fmla="val 3953"/>
            </a:avLst>
          </a:prstGeom>
          <a:solidFill>
            <a:srgbClr val="2A3E59"/>
          </a:solidFill>
          <a:ln/>
        </p:spPr>
      </p:sp>
      <p:sp>
        <p:nvSpPr>
          <p:cNvPr id="5" name="Shape 3"/>
          <p:cNvSpPr/>
          <p:nvPr/>
        </p:nvSpPr>
        <p:spPr>
          <a:xfrm>
            <a:off x="685783" y="1650901"/>
            <a:ext cx="546086" cy="546100"/>
          </a:xfrm>
          <a:prstGeom prst="rect">
            <a:avLst/>
          </a:prstGeom>
          <a:noFill/>
          <a:ln w="19050">
            <a:solidFill>
              <a:srgbClr val="EAF6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32" y="1669951"/>
            <a:ext cx="507987" cy="50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783" y="2349401"/>
            <a:ext cx="3149521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Credential input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85783" y="2902148"/>
            <a:ext cx="3759106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the entry.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368691" y="1422301"/>
            <a:ext cx="3505112" cy="2698552"/>
          </a:xfrm>
          <a:prstGeom prst="rect">
            <a:avLst/>
          </a:prstGeom>
          <a:solidFill>
            <a:srgbClr val="1E5384">
              <a:alpha val="62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597285" y="1650901"/>
            <a:ext cx="546086" cy="546100"/>
          </a:xfrm>
          <a:prstGeom prst="rect">
            <a:avLst/>
          </a:prstGeom>
          <a:noFill/>
          <a:ln w="19050">
            <a:solidFill>
              <a:srgbClr val="EAF6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335" y="1669951"/>
            <a:ext cx="507987" cy="508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7285" y="2349401"/>
            <a:ext cx="3047924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B9D4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Controller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4597285" y="2902148"/>
            <a:ext cx="3047924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B9D4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Stores, processes, and decides.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8178595" y="1422301"/>
            <a:ext cx="3555911" cy="2698552"/>
          </a:xfrm>
          <a:prstGeom prst="roundRect">
            <a:avLst>
              <a:gd name="adj" fmla="val 3953"/>
            </a:avLst>
          </a:prstGeom>
          <a:solidFill>
            <a:srgbClr val="2A3E59"/>
          </a:solidFill>
          <a:ln/>
        </p:spPr>
      </p:sp>
      <p:sp>
        <p:nvSpPr>
          <p:cNvPr id="15" name="Shape 11"/>
          <p:cNvSpPr/>
          <p:nvPr/>
        </p:nvSpPr>
        <p:spPr>
          <a:xfrm>
            <a:off x="8407190" y="1650901"/>
            <a:ext cx="546086" cy="546100"/>
          </a:xfrm>
          <a:prstGeom prst="rect">
            <a:avLst/>
          </a:prstGeom>
          <a:noFill/>
          <a:ln w="19050">
            <a:solidFill>
              <a:srgbClr val="EAF6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239" y="1669951"/>
            <a:ext cx="507987" cy="508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7190" y="2349401"/>
            <a:ext cx="3098722" cy="781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Display &amp; indicators</a:t>
            </a:r>
            <a:endParaRPr lang="en-US" sz="2700" dirty="0"/>
          </a:p>
        </p:txBody>
      </p:sp>
      <p:sp>
        <p:nvSpPr>
          <p:cNvPr id="18" name="Text 13"/>
          <p:cNvSpPr/>
          <p:nvPr/>
        </p:nvSpPr>
        <p:spPr>
          <a:xfrm>
            <a:off x="8407190" y="3292971"/>
            <a:ext cx="3098722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prompts and status.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457189" y="4425652"/>
            <a:ext cx="3606710" cy="2008088"/>
          </a:xfrm>
          <a:prstGeom prst="roundRect">
            <a:avLst>
              <a:gd name="adj" fmla="val 5312"/>
            </a:avLst>
          </a:prstGeom>
          <a:solidFill>
            <a:srgbClr val="2A3E59"/>
          </a:solidFill>
          <a:ln/>
        </p:spPr>
      </p:sp>
      <p:sp>
        <p:nvSpPr>
          <p:cNvPr id="20" name="Shape 15"/>
          <p:cNvSpPr/>
          <p:nvPr/>
        </p:nvSpPr>
        <p:spPr>
          <a:xfrm>
            <a:off x="685783" y="4654252"/>
            <a:ext cx="546086" cy="546100"/>
          </a:xfrm>
          <a:prstGeom prst="rect">
            <a:avLst/>
          </a:prstGeom>
          <a:noFill/>
          <a:ln w="19050">
            <a:solidFill>
              <a:srgbClr val="EAF6F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32" y="4673302"/>
            <a:ext cx="507987" cy="5080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783" y="5352752"/>
            <a:ext cx="3149521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Lock driver</a:t>
            </a:r>
            <a:endParaRPr lang="en-US" sz="2700" dirty="0"/>
          </a:p>
        </p:txBody>
      </p:sp>
      <p:sp>
        <p:nvSpPr>
          <p:cNvPr id="23" name="Text 17"/>
          <p:cNvSpPr/>
          <p:nvPr/>
        </p:nvSpPr>
        <p:spPr>
          <a:xfrm>
            <a:off x="685783" y="5905500"/>
            <a:ext cx="3759106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Isolates and switches.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4368691" y="4425652"/>
            <a:ext cx="7365816" cy="2008088"/>
          </a:xfrm>
          <a:prstGeom prst="rect">
            <a:avLst/>
          </a:prstGeom>
          <a:solidFill>
            <a:srgbClr val="EAF6FF"/>
          </a:solidFill>
          <a:ln/>
        </p:spPr>
      </p:sp>
      <p:sp>
        <p:nvSpPr>
          <p:cNvPr id="25" name="Shape 19"/>
          <p:cNvSpPr/>
          <p:nvPr/>
        </p:nvSpPr>
        <p:spPr>
          <a:xfrm>
            <a:off x="4597285" y="4654252"/>
            <a:ext cx="546086" cy="546100"/>
          </a:xfrm>
          <a:prstGeom prst="rect">
            <a:avLst/>
          </a:prstGeom>
          <a:noFill/>
          <a:ln w="19050">
            <a:solidFill>
              <a:srgbClr val="EAF6FF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6335" y="4673302"/>
            <a:ext cx="507987" cy="5080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7285" y="5352752"/>
            <a:ext cx="6908627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Alert &amp; reset</a:t>
            </a:r>
            <a:endParaRPr lang="en-US" sz="2700" dirty="0"/>
          </a:p>
        </p:txBody>
      </p:sp>
      <p:sp>
        <p:nvSpPr>
          <p:cNvPr id="28" name="Text 21"/>
          <p:cNvSpPr/>
          <p:nvPr/>
        </p:nvSpPr>
        <p:spPr>
          <a:xfrm>
            <a:off x="4597285" y="5905500"/>
            <a:ext cx="7518212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Signals denial and restores safe start.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custGeom>
            <a:avLst/>
            <a:gdLst/>
            <a:ahLst/>
            <a:cxnLst/>
            <a:rect l="l" t="t" r="r" b="b"/>
            <a:pathLst>
              <a:path w="4876678" h="6858000">
                <a:moveTo>
                  <a:pt x="152415" y="0"/>
                </a:moveTo>
                <a:lnTo>
                  <a:pt x="4876678" y="0"/>
                </a:lnTo>
                <a:lnTo>
                  <a:pt x="4876678" y="6858000"/>
                </a:lnTo>
                <a:lnTo>
                  <a:pt x="152415" y="6858000"/>
                </a:lnTo>
                <a:arcTo wR="152415" hR="152419" stAng="5400000" swAng="5400000"/>
                <a:lnTo>
                  <a:pt x="0" y="152419"/>
                </a:lnTo>
                <a:arcTo wR="152415" hR="152419" stAng="10800000" swAng="5400000"/>
                <a:close/>
              </a:path>
            </a:pathLst>
          </a:custGeom>
          <a:solidFill>
            <a:srgbClr val="1E5384">
              <a:alpha val="6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2436019"/>
            <a:ext cx="457188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B9D4E8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07 · WORKING PRINCIPLE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189" y="2741414"/>
            <a:ext cx="3962301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800" b="1" kern="0" spc="-98" dirty="0">
                <a:solidFill>
                  <a:srgbClr val="B9D4E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THE CIRCUIT, THEN VERIFY THE </a:t>
            </a:r>
            <a:r>
              <a:rPr lang="en-US" sz="2800" b="1" kern="0" spc="-98" dirty="0">
                <a:solidFill>
                  <a:srgbClr val="539C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 LOGIC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189" y="3980061"/>
            <a:ext cx="3962301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500" dirty="0">
                <a:solidFill>
                  <a:srgbClr val="B9D4E8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Build the signal path first. Test both decision branches before the next attempt.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33867" y="570012"/>
            <a:ext cx="6400640" cy="304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steps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33867" y="1035943"/>
            <a:ext cx="193035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Define flow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69011" y="1035943"/>
            <a:ext cx="1930352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Connect circuit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04155" y="1035943"/>
            <a:ext cx="1930352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Simulate tests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33867" y="1876127"/>
            <a:ext cx="6400640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Design steps:</a:t>
            </a:r>
            <a:r>
              <a:rPr lang="en-US" sz="1500" dirty="0">
                <a:solidFill>
                  <a:srgbClr val="FFFFF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 define the credential flow → connect input and controller → add display and indicators → add driver and lock → simulate test cases.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33867" y="2742208"/>
            <a:ext cx="3047825" cy="1813520"/>
          </a:xfrm>
          <a:prstGeom prst="roundRect">
            <a:avLst>
              <a:gd name="adj" fmla="val 5882"/>
            </a:avLst>
          </a:prstGeom>
          <a:noFill/>
          <a:ln w="25399">
            <a:solidFill>
              <a:srgbClr val="4357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87860" y="2996208"/>
            <a:ext cx="314942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539CD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VALID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87860" y="3342878"/>
            <a:ext cx="2539837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credential → compare with stored value → if valid, energize lock for a timed interval.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483" y="2742208"/>
            <a:ext cx="3047924" cy="1813520"/>
          </a:xfrm>
          <a:prstGeom prst="roundRect">
            <a:avLst>
              <a:gd name="adj" fmla="val 5882"/>
            </a:avLst>
          </a:prstGeom>
          <a:noFill/>
          <a:ln w="25399">
            <a:solidFill>
              <a:srgbClr val="4357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40477" y="2996208"/>
            <a:ext cx="314952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INVALID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40477" y="3342878"/>
            <a:ext cx="2539936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credential → compare with stored value → otherwise keep locked and sound the buzzer.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33867" y="4758928"/>
            <a:ext cx="6400640" cy="15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spcAft>
                <a:spcPts val="15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Circuit components:</a:t>
            </a:r>
            <a:r>
              <a:rPr lang="en-US" sz="1500" dirty="0">
                <a:solidFill>
                  <a:srgbClr val="FFFFF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 keypad, microcontroller, LCD or status display, relay/transistor driver, electronic lock, buzzer, LEDs, resistors, regulated supply, and reset switch.</a:t>
            </a:r>
            <a:endParaRPr lang="en-US" sz="1500" dirty="0"/>
          </a:p>
          <a:p>
            <a:pPr marL="0" indent="0" algn="l">
              <a:lnSpc>
                <a:spcPct val="97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Logic:</a:t>
            </a:r>
            <a:r>
              <a:rPr lang="en-US" sz="1500" dirty="0">
                <a:solidFill>
                  <a:srgbClr val="FFFFF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 read credential → compare with stored value → if valid, energize lock for a timed interval → otherwise keep locked and sound the buzzer → reset for the next attempt.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custGeom>
            <a:avLst/>
            <a:gdLst/>
            <a:ahLst/>
            <a:cxnLst/>
            <a:rect l="l" t="t" r="r" b="b"/>
            <a:pathLst>
              <a:path w="4876678" h="6858000">
                <a:moveTo>
                  <a:pt x="152415" y="0"/>
                </a:moveTo>
                <a:lnTo>
                  <a:pt x="4876678" y="0"/>
                </a:lnTo>
                <a:lnTo>
                  <a:pt x="4876678" y="6858000"/>
                </a:lnTo>
                <a:lnTo>
                  <a:pt x="152415" y="6858000"/>
                </a:lnTo>
                <a:arcTo wR="152415" hR="152419" stAng="5400000" swAng="5400000"/>
                <a:lnTo>
                  <a:pt x="0" y="152419"/>
                </a:lnTo>
                <a:arcTo wR="152415" hR="152419" stAng="10800000" swAng="5400000"/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1561108"/>
            <a:ext cx="457188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08 · CONCLUSION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189" y="1866503"/>
            <a:ext cx="3962301" cy="2605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0" spc="-12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DIGITAL ACCESS SYSTEM MAKES THE SECURITY DECISION </a:t>
            </a:r>
            <a:r>
              <a:rPr lang="en-US" sz="3600" b="1" kern="0" spc="-126" dirty="0">
                <a:solidFill>
                  <a:srgbClr val="539C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CONSISTENT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189" y="4697611"/>
            <a:ext cx="3962301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 the user. Decide with logic. Actuate safely.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349" y="1151533"/>
            <a:ext cx="634984" cy="63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43808" y="1989733"/>
            <a:ext cx="1612066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Authenticate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333867" y="2441178"/>
            <a:ext cx="2031949" cy="127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manual checks with repeatable credential verification.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694" y="1151533"/>
            <a:ext cx="634984" cy="635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01901" y="1989733"/>
            <a:ext cx="864471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Decide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518212" y="2441178"/>
            <a:ext cx="2031949" cy="1528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input, control logic, and lock actuation for easy simulation, testing, and improvement.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040" y="1151533"/>
            <a:ext cx="634984" cy="635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31678" y="1989733"/>
            <a:ext cx="973708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Actuate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9702557" y="2441178"/>
            <a:ext cx="2031949" cy="127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 credentials open the door; invalid credentials keep it locked and trigger an alert.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333867" y="4172545"/>
            <a:ext cx="6400640" cy="1533922"/>
          </a:xfrm>
          <a:prstGeom prst="roundRect">
            <a:avLst>
              <a:gd name="adj" fmla="val 6955"/>
            </a:avLst>
          </a:prstGeom>
          <a:solidFill>
            <a:srgbClr val="183A13"/>
          </a:solidFill>
          <a:ln/>
        </p:spPr>
      </p:sp>
      <p:sp>
        <p:nvSpPr>
          <p:cNvPr id="16" name="Text 11"/>
          <p:cNvSpPr/>
          <p:nvPr/>
        </p:nvSpPr>
        <p:spPr>
          <a:xfrm>
            <a:off x="5587860" y="4490045"/>
            <a:ext cx="5892653" cy="898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compact digital controller can deliver controlled, understandable, and scalable door access.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737</Words>
  <Application>Microsoft Office PowerPoint</Application>
  <PresentationFormat>Widescreen</PresentationFormat>
  <Paragraphs>129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Atkinson Hyperlegible Next Bold</vt:lpstr>
      <vt:lpstr>Arial</vt:lpstr>
      <vt:lpstr>Inter Bold</vt:lpstr>
      <vt:lpstr>Calibri</vt:lpstr>
      <vt:lpstr>Inter</vt:lpstr>
      <vt:lpstr>Atkinson Hyperlegible Next ExtraBold</vt:lpstr>
      <vt:lpstr>Inter SemiBold</vt:lpstr>
      <vt:lpstr>Atkinson Hyperlegible Next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Kudithi Prashanth Reddy</dc:creator>
  <cp:lastModifiedBy>USER</cp:lastModifiedBy>
  <cp:revision>3</cp:revision>
  <dcterms:created xsi:type="dcterms:W3CDTF">2026-09-11T08:01:22Z</dcterms:created>
  <dcterms:modified xsi:type="dcterms:W3CDTF">2026-09-21T11:40:45Z</dcterms:modified>
</cp:coreProperties>
</file>